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22"/>
  </p:notesMasterIdLst>
  <p:sldIdLst>
    <p:sldId id="256" r:id="rId2"/>
    <p:sldId id="257" r:id="rId3"/>
    <p:sldId id="258" r:id="rId4"/>
    <p:sldId id="259" r:id="rId5"/>
    <p:sldId id="260" r:id="rId6"/>
    <p:sldId id="262" r:id="rId7"/>
    <p:sldId id="261" r:id="rId8"/>
    <p:sldId id="265" r:id="rId9"/>
    <p:sldId id="276" r:id="rId10"/>
    <p:sldId id="277" r:id="rId11"/>
    <p:sldId id="263" r:id="rId12"/>
    <p:sldId id="266" r:id="rId13"/>
    <p:sldId id="267" r:id="rId14"/>
    <p:sldId id="264" r:id="rId15"/>
    <p:sldId id="268" r:id="rId16"/>
    <p:sldId id="269" r:id="rId17"/>
    <p:sldId id="270" r:id="rId18"/>
    <p:sldId id="272" r:id="rId19"/>
    <p:sldId id="273" r:id="rId20"/>
    <p:sldId id="275" r:id="rId21"/>
  </p:sldIdLst>
  <p:sldSz cx="9144000" cy="6858000" type="screen4x3"/>
  <p:notesSz cx="7559675" cy="10691813"/>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25" roundtripDataSignature="AMtx7mi1f/biDpWg70jm867p0XoLL7ATm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241" autoAdjust="0"/>
    <p:restoredTop sz="95196" autoAdjust="0"/>
  </p:normalViewPr>
  <p:slideViewPr>
    <p:cSldViewPr snapToGrid="0">
      <p:cViewPr>
        <p:scale>
          <a:sx n="100" d="100"/>
          <a:sy n="100" d="100"/>
        </p:scale>
        <p:origin x="874" y="-23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customschemas.google.com/relationships/presentationmetadata" Target="meta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260175" y="801875"/>
            <a:ext cx="5040025" cy="4009425"/>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755950" y="5078600"/>
            <a:ext cx="6047725" cy="48113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
        <p:cNvGrpSpPr/>
        <p:nvPr/>
      </p:nvGrpSpPr>
      <p:grpSpPr>
        <a:xfrm>
          <a:off x="0" y="0"/>
          <a:ext cx="0" cy="0"/>
          <a:chOff x="0" y="0"/>
          <a:chExt cx="0" cy="0"/>
        </a:xfrm>
      </p:grpSpPr>
      <p:sp>
        <p:nvSpPr>
          <p:cNvPr id="57" name="Google Shape;57;p1:notes"/>
          <p:cNvSpPr txBox="1">
            <a:spLocks noGrp="1"/>
          </p:cNvSpPr>
          <p:nvPr>
            <p:ph type="body" idx="1"/>
          </p:nvPr>
        </p:nvSpPr>
        <p:spPr>
          <a:xfrm>
            <a:off x="755950" y="5078600"/>
            <a:ext cx="6047725" cy="4811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8" name="Google Shape;58;p1:notes"/>
          <p:cNvSpPr>
            <a:spLocks noGrp="1" noRot="1" noChangeAspect="1"/>
          </p:cNvSpPr>
          <p:nvPr>
            <p:ph type="sldImg" idx="2"/>
          </p:nvPr>
        </p:nvSpPr>
        <p:spPr>
          <a:xfrm>
            <a:off x="1108075" y="801688"/>
            <a:ext cx="5345113" cy="401002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
        <p:cNvGrpSpPr/>
        <p:nvPr/>
      </p:nvGrpSpPr>
      <p:grpSpPr>
        <a:xfrm>
          <a:off x="0" y="0"/>
          <a:ext cx="0" cy="0"/>
          <a:chOff x="0" y="0"/>
          <a:chExt cx="0" cy="0"/>
        </a:xfrm>
      </p:grpSpPr>
      <p:sp>
        <p:nvSpPr>
          <p:cNvPr id="64" name="Google Shape;64;p2:notes"/>
          <p:cNvSpPr txBox="1">
            <a:spLocks noGrp="1"/>
          </p:cNvSpPr>
          <p:nvPr>
            <p:ph type="body" idx="1"/>
          </p:nvPr>
        </p:nvSpPr>
        <p:spPr>
          <a:xfrm>
            <a:off x="755950" y="5078600"/>
            <a:ext cx="6047725" cy="4811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65" name="Google Shape;65;p2:notes"/>
          <p:cNvSpPr>
            <a:spLocks noGrp="1" noRot="1" noChangeAspect="1"/>
          </p:cNvSpPr>
          <p:nvPr>
            <p:ph type="sldImg" idx="2"/>
          </p:nvPr>
        </p:nvSpPr>
        <p:spPr>
          <a:xfrm>
            <a:off x="1108075" y="801688"/>
            <a:ext cx="5345113" cy="401002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
        <p:cNvGrpSpPr/>
        <p:nvPr/>
      </p:nvGrpSpPr>
      <p:grpSpPr>
        <a:xfrm>
          <a:off x="0" y="0"/>
          <a:ext cx="0" cy="0"/>
          <a:chOff x="0" y="0"/>
          <a:chExt cx="0" cy="0"/>
        </a:xfrm>
      </p:grpSpPr>
      <p:sp>
        <p:nvSpPr>
          <p:cNvPr id="70" name="Google Shape;70;g3557b111a15_0_1199:notes"/>
          <p:cNvSpPr>
            <a:spLocks noGrp="1" noRot="1" noChangeAspect="1"/>
          </p:cNvSpPr>
          <p:nvPr>
            <p:ph type="sldImg" idx="2"/>
          </p:nvPr>
        </p:nvSpPr>
        <p:spPr>
          <a:xfrm>
            <a:off x="1108075" y="801688"/>
            <a:ext cx="5345113" cy="4010025"/>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1" name="Google Shape;71;g3557b111a15_0_1199:notes"/>
          <p:cNvSpPr txBox="1">
            <a:spLocks noGrp="1"/>
          </p:cNvSpPr>
          <p:nvPr>
            <p:ph type="body" idx="1"/>
          </p:nvPr>
        </p:nvSpPr>
        <p:spPr>
          <a:xfrm>
            <a:off x="755950" y="5078600"/>
            <a:ext cx="6047700" cy="4811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
        <p:cNvGrpSpPr/>
        <p:nvPr/>
      </p:nvGrpSpPr>
      <p:grpSpPr>
        <a:xfrm>
          <a:off x="0" y="0"/>
          <a:ext cx="0" cy="0"/>
          <a:chOff x="0" y="0"/>
          <a:chExt cx="0" cy="0"/>
        </a:xfrm>
      </p:grpSpPr>
      <p:sp>
        <p:nvSpPr>
          <p:cNvPr id="76" name="Google Shape;76;g3557b111a15_0_1206:notes"/>
          <p:cNvSpPr>
            <a:spLocks noGrp="1" noRot="1" noChangeAspect="1"/>
          </p:cNvSpPr>
          <p:nvPr>
            <p:ph type="sldImg" idx="2"/>
          </p:nvPr>
        </p:nvSpPr>
        <p:spPr>
          <a:xfrm>
            <a:off x="1108075" y="801688"/>
            <a:ext cx="5345113" cy="4010025"/>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7" name="Google Shape;77;g3557b111a15_0_1206:notes"/>
          <p:cNvSpPr txBox="1">
            <a:spLocks noGrp="1"/>
          </p:cNvSpPr>
          <p:nvPr>
            <p:ph type="body" idx="1"/>
          </p:nvPr>
        </p:nvSpPr>
        <p:spPr>
          <a:xfrm>
            <a:off x="755950" y="5078600"/>
            <a:ext cx="6047700" cy="4811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
        <p:cNvGrpSpPr/>
        <p:nvPr/>
      </p:nvGrpSpPr>
      <p:grpSpPr>
        <a:xfrm>
          <a:off x="0" y="0"/>
          <a:ext cx="0" cy="0"/>
          <a:chOff x="0" y="0"/>
          <a:chExt cx="0" cy="0"/>
        </a:xfrm>
      </p:grpSpPr>
      <p:sp>
        <p:nvSpPr>
          <p:cNvPr id="82" name="Google Shape;82;p3:notes"/>
          <p:cNvSpPr txBox="1">
            <a:spLocks noGrp="1"/>
          </p:cNvSpPr>
          <p:nvPr>
            <p:ph type="body" idx="1"/>
          </p:nvPr>
        </p:nvSpPr>
        <p:spPr>
          <a:xfrm>
            <a:off x="755950" y="5078600"/>
            <a:ext cx="6047725" cy="4811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3" name="Google Shape;83;p3:notes"/>
          <p:cNvSpPr>
            <a:spLocks noGrp="1" noRot="1" noChangeAspect="1"/>
          </p:cNvSpPr>
          <p:nvPr>
            <p:ph type="sldImg" idx="2"/>
          </p:nvPr>
        </p:nvSpPr>
        <p:spPr>
          <a:xfrm>
            <a:off x="1108075" y="801688"/>
            <a:ext cx="5345113" cy="401002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
        <p:cNvGrpSpPr/>
        <p:nvPr/>
      </p:nvGrpSpPr>
      <p:grpSpPr>
        <a:xfrm>
          <a:off x="0" y="0"/>
          <a:ext cx="0" cy="0"/>
          <a:chOff x="0" y="0"/>
          <a:chExt cx="0" cy="0"/>
        </a:xfrm>
      </p:grpSpPr>
      <p:sp>
        <p:nvSpPr>
          <p:cNvPr id="94" name="Google Shape;94;g3557b111a15_0_1285:notes"/>
          <p:cNvSpPr>
            <a:spLocks noGrp="1" noRot="1" noChangeAspect="1"/>
          </p:cNvSpPr>
          <p:nvPr>
            <p:ph type="sldImg" idx="2"/>
          </p:nvPr>
        </p:nvSpPr>
        <p:spPr>
          <a:xfrm>
            <a:off x="1108075" y="801688"/>
            <a:ext cx="5345113" cy="4010025"/>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5" name="Google Shape;95;g3557b111a15_0_1285:notes"/>
          <p:cNvSpPr txBox="1">
            <a:spLocks noGrp="1"/>
          </p:cNvSpPr>
          <p:nvPr>
            <p:ph type="body" idx="1"/>
          </p:nvPr>
        </p:nvSpPr>
        <p:spPr>
          <a:xfrm>
            <a:off x="755950" y="5078600"/>
            <a:ext cx="6047700" cy="4811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p4:notes"/>
          <p:cNvSpPr txBox="1">
            <a:spLocks noGrp="1"/>
          </p:cNvSpPr>
          <p:nvPr>
            <p:ph type="body" idx="1"/>
          </p:nvPr>
        </p:nvSpPr>
        <p:spPr>
          <a:xfrm>
            <a:off x="755950" y="5078600"/>
            <a:ext cx="6047725" cy="4811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9" name="Google Shape;89;p4:notes"/>
          <p:cNvSpPr>
            <a:spLocks noGrp="1" noRot="1" noChangeAspect="1"/>
          </p:cNvSpPr>
          <p:nvPr>
            <p:ph type="sldImg" idx="2"/>
          </p:nvPr>
        </p:nvSpPr>
        <p:spPr>
          <a:xfrm>
            <a:off x="1108075" y="801688"/>
            <a:ext cx="5345113" cy="401002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p:cNvGrpSpPr/>
        <p:nvPr/>
      </p:nvGrpSpPr>
      <p:grpSpPr>
        <a:xfrm>
          <a:off x="0" y="0"/>
          <a:ext cx="0" cy="0"/>
          <a:chOff x="0" y="0"/>
          <a:chExt cx="0" cy="0"/>
        </a:xfrm>
      </p:grpSpPr>
      <p:sp>
        <p:nvSpPr>
          <p:cNvPr id="115" name="Google Shape;115;g3558314b03f_0_0:notes"/>
          <p:cNvSpPr>
            <a:spLocks noGrp="1" noRot="1" noChangeAspect="1"/>
          </p:cNvSpPr>
          <p:nvPr>
            <p:ph type="sldImg" idx="2"/>
          </p:nvPr>
        </p:nvSpPr>
        <p:spPr>
          <a:xfrm>
            <a:off x="1108075" y="801688"/>
            <a:ext cx="5345113" cy="4010025"/>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6" name="Google Shape;116;g3558314b03f_0_0:notes"/>
          <p:cNvSpPr txBox="1">
            <a:spLocks noGrp="1"/>
          </p:cNvSpPr>
          <p:nvPr>
            <p:ph type="body" idx="1"/>
          </p:nvPr>
        </p:nvSpPr>
        <p:spPr>
          <a:xfrm>
            <a:off x="755950" y="5078600"/>
            <a:ext cx="6047700" cy="4811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p:cNvGrpSpPr/>
        <p:nvPr/>
      </p:nvGrpSpPr>
      <p:grpSpPr>
        <a:xfrm>
          <a:off x="0" y="0"/>
          <a:ext cx="0" cy="0"/>
          <a:chOff x="0" y="0"/>
          <a:chExt cx="0" cy="0"/>
        </a:xfrm>
      </p:grpSpPr>
      <p:sp>
        <p:nvSpPr>
          <p:cNvPr id="102" name="Google Shape;102;g3557b111a15_0_1214:notes"/>
          <p:cNvSpPr>
            <a:spLocks noGrp="1" noRot="1" noChangeAspect="1"/>
          </p:cNvSpPr>
          <p:nvPr>
            <p:ph type="sldImg" idx="2"/>
          </p:nvPr>
        </p:nvSpPr>
        <p:spPr>
          <a:xfrm>
            <a:off x="1108075" y="801688"/>
            <a:ext cx="5345113" cy="4010025"/>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3" name="Google Shape;103;g3557b111a15_0_1214:notes"/>
          <p:cNvSpPr txBox="1">
            <a:spLocks noGrp="1"/>
          </p:cNvSpPr>
          <p:nvPr>
            <p:ph type="body" idx="1"/>
          </p:nvPr>
        </p:nvSpPr>
        <p:spPr>
          <a:xfrm>
            <a:off x="755950" y="5078600"/>
            <a:ext cx="6047700" cy="4811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0"/>
        <p:cNvGrpSpPr/>
        <p:nvPr/>
      </p:nvGrpSpPr>
      <p:grpSpPr>
        <a:xfrm>
          <a:off x="0" y="0"/>
          <a:ext cx="0" cy="0"/>
          <a:chOff x="0" y="0"/>
          <a:chExt cx="0" cy="0"/>
        </a:xfrm>
      </p:grpSpPr>
      <p:sp>
        <p:nvSpPr>
          <p:cNvPr id="121" name="Google Shape;121;g3557b111a15_0_1227:notes"/>
          <p:cNvSpPr>
            <a:spLocks noGrp="1" noRot="1" noChangeAspect="1"/>
          </p:cNvSpPr>
          <p:nvPr>
            <p:ph type="sldImg" idx="2"/>
          </p:nvPr>
        </p:nvSpPr>
        <p:spPr>
          <a:xfrm>
            <a:off x="1108075" y="801688"/>
            <a:ext cx="5345113" cy="4010025"/>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2" name="Google Shape;122;g3557b111a15_0_1227:notes"/>
          <p:cNvSpPr txBox="1">
            <a:spLocks noGrp="1"/>
          </p:cNvSpPr>
          <p:nvPr>
            <p:ph type="body" idx="1"/>
          </p:nvPr>
        </p:nvSpPr>
        <p:spPr>
          <a:xfrm>
            <a:off x="755950" y="5078600"/>
            <a:ext cx="6047700" cy="4811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p:cNvGrpSpPr/>
        <p:nvPr/>
      </p:nvGrpSpPr>
      <p:grpSpPr>
        <a:xfrm>
          <a:off x="0" y="0"/>
          <a:ext cx="0" cy="0"/>
          <a:chOff x="0" y="0"/>
          <a:chExt cx="0" cy="0"/>
        </a:xfrm>
      </p:grpSpPr>
      <p:sp>
        <p:nvSpPr>
          <p:cNvPr id="127" name="Google Shape;127;g3557b111a15_0_1234:notes"/>
          <p:cNvSpPr>
            <a:spLocks noGrp="1" noRot="1" noChangeAspect="1"/>
          </p:cNvSpPr>
          <p:nvPr>
            <p:ph type="sldImg" idx="2"/>
          </p:nvPr>
        </p:nvSpPr>
        <p:spPr>
          <a:xfrm>
            <a:off x="1108075" y="801688"/>
            <a:ext cx="5345113" cy="4010025"/>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8" name="Google Shape;128;g3557b111a15_0_1234:notes"/>
          <p:cNvSpPr txBox="1">
            <a:spLocks noGrp="1"/>
          </p:cNvSpPr>
          <p:nvPr>
            <p:ph type="body" idx="1"/>
          </p:nvPr>
        </p:nvSpPr>
        <p:spPr>
          <a:xfrm>
            <a:off x="755950" y="5078600"/>
            <a:ext cx="6047700" cy="4811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
        <p:cNvGrpSpPr/>
        <p:nvPr/>
      </p:nvGrpSpPr>
      <p:grpSpPr>
        <a:xfrm>
          <a:off x="0" y="0"/>
          <a:ext cx="0" cy="0"/>
          <a:chOff x="0" y="0"/>
          <a:chExt cx="0" cy="0"/>
        </a:xfrm>
      </p:grpSpPr>
      <p:sp>
        <p:nvSpPr>
          <p:cNvPr id="108" name="Google Shape;108;g3557b111a15_0_1220:notes"/>
          <p:cNvSpPr>
            <a:spLocks noGrp="1" noRot="1" noChangeAspect="1"/>
          </p:cNvSpPr>
          <p:nvPr>
            <p:ph type="sldImg" idx="2"/>
          </p:nvPr>
        </p:nvSpPr>
        <p:spPr>
          <a:xfrm>
            <a:off x="1108075" y="801688"/>
            <a:ext cx="5345113" cy="4010025"/>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9" name="Google Shape;109;g3557b111a15_0_1220:notes"/>
          <p:cNvSpPr txBox="1">
            <a:spLocks noGrp="1"/>
          </p:cNvSpPr>
          <p:nvPr>
            <p:ph type="body" idx="1"/>
          </p:nvPr>
        </p:nvSpPr>
        <p:spPr>
          <a:xfrm>
            <a:off x="755950" y="5078600"/>
            <a:ext cx="6047700" cy="4811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3"/>
        <p:cNvGrpSpPr/>
        <p:nvPr/>
      </p:nvGrpSpPr>
      <p:grpSpPr>
        <a:xfrm>
          <a:off x="0" y="0"/>
          <a:ext cx="0" cy="0"/>
          <a:chOff x="0" y="0"/>
          <a:chExt cx="0" cy="0"/>
        </a:xfrm>
      </p:grpSpPr>
      <p:sp>
        <p:nvSpPr>
          <p:cNvPr id="134" name="Google Shape;134;g3557b111a15_0_1241:notes"/>
          <p:cNvSpPr>
            <a:spLocks noGrp="1" noRot="1" noChangeAspect="1"/>
          </p:cNvSpPr>
          <p:nvPr>
            <p:ph type="sldImg" idx="2"/>
          </p:nvPr>
        </p:nvSpPr>
        <p:spPr>
          <a:xfrm>
            <a:off x="1108075" y="801688"/>
            <a:ext cx="5345113" cy="4010025"/>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5" name="Google Shape;135;g3557b111a15_0_1241:notes"/>
          <p:cNvSpPr txBox="1">
            <a:spLocks noGrp="1"/>
          </p:cNvSpPr>
          <p:nvPr>
            <p:ph type="body" idx="1"/>
          </p:nvPr>
        </p:nvSpPr>
        <p:spPr>
          <a:xfrm>
            <a:off x="755950" y="5078600"/>
            <a:ext cx="6047700" cy="4811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g3557b111a15_0_1248:notes"/>
          <p:cNvSpPr>
            <a:spLocks noGrp="1" noRot="1" noChangeAspect="1"/>
          </p:cNvSpPr>
          <p:nvPr>
            <p:ph type="sldImg" idx="2"/>
          </p:nvPr>
        </p:nvSpPr>
        <p:spPr>
          <a:xfrm>
            <a:off x="1108075" y="801688"/>
            <a:ext cx="5345113" cy="4010025"/>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2" name="Google Shape;142;g3557b111a15_0_1248:notes"/>
          <p:cNvSpPr txBox="1">
            <a:spLocks noGrp="1"/>
          </p:cNvSpPr>
          <p:nvPr>
            <p:ph type="body" idx="1"/>
          </p:nvPr>
        </p:nvSpPr>
        <p:spPr>
          <a:xfrm>
            <a:off x="755950" y="5078600"/>
            <a:ext cx="6047700" cy="4811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Google Shape;147;g3557b111a15_0_1255:notes"/>
          <p:cNvSpPr>
            <a:spLocks noGrp="1" noRot="1" noChangeAspect="1"/>
          </p:cNvSpPr>
          <p:nvPr>
            <p:ph type="sldImg" idx="2"/>
          </p:nvPr>
        </p:nvSpPr>
        <p:spPr>
          <a:xfrm>
            <a:off x="1108075" y="801688"/>
            <a:ext cx="5345113" cy="4010025"/>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8" name="Google Shape;148;g3557b111a15_0_1255:notes"/>
          <p:cNvSpPr txBox="1">
            <a:spLocks noGrp="1"/>
          </p:cNvSpPr>
          <p:nvPr>
            <p:ph type="body" idx="1"/>
          </p:nvPr>
        </p:nvSpPr>
        <p:spPr>
          <a:xfrm>
            <a:off x="755950" y="5078600"/>
            <a:ext cx="6047700" cy="4811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8"/>
        <p:cNvGrpSpPr/>
        <p:nvPr/>
      </p:nvGrpSpPr>
      <p:grpSpPr>
        <a:xfrm>
          <a:off x="0" y="0"/>
          <a:ext cx="0" cy="0"/>
          <a:chOff x="0" y="0"/>
          <a:chExt cx="0" cy="0"/>
        </a:xfrm>
      </p:grpSpPr>
      <p:sp>
        <p:nvSpPr>
          <p:cNvPr id="159" name="Google Shape;159;p9:notes"/>
          <p:cNvSpPr txBox="1">
            <a:spLocks noGrp="1"/>
          </p:cNvSpPr>
          <p:nvPr>
            <p:ph type="body" idx="1"/>
          </p:nvPr>
        </p:nvSpPr>
        <p:spPr>
          <a:xfrm>
            <a:off x="755950" y="5078600"/>
            <a:ext cx="6047725" cy="4811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60" name="Google Shape;160;p9:notes"/>
          <p:cNvSpPr>
            <a:spLocks noGrp="1" noRot="1" noChangeAspect="1"/>
          </p:cNvSpPr>
          <p:nvPr>
            <p:ph type="sldImg" idx="2"/>
          </p:nvPr>
        </p:nvSpPr>
        <p:spPr>
          <a:xfrm>
            <a:off x="1108075" y="801688"/>
            <a:ext cx="5345113" cy="401002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4"/>
        <p:cNvGrpSpPr/>
        <p:nvPr/>
      </p:nvGrpSpPr>
      <p:grpSpPr>
        <a:xfrm>
          <a:off x="0" y="0"/>
          <a:ext cx="0" cy="0"/>
          <a:chOff x="0" y="0"/>
          <a:chExt cx="0" cy="0"/>
        </a:xfrm>
      </p:grpSpPr>
      <p:sp>
        <p:nvSpPr>
          <p:cNvPr id="165" name="Google Shape;165;g3557b111a15_0_1278:notes"/>
          <p:cNvSpPr>
            <a:spLocks noGrp="1" noRot="1" noChangeAspect="1"/>
          </p:cNvSpPr>
          <p:nvPr>
            <p:ph type="sldImg" idx="2"/>
          </p:nvPr>
        </p:nvSpPr>
        <p:spPr>
          <a:xfrm>
            <a:off x="1108075" y="801688"/>
            <a:ext cx="5345113" cy="4010025"/>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6" name="Google Shape;166;g3557b111a15_0_1278:notes"/>
          <p:cNvSpPr txBox="1">
            <a:spLocks noGrp="1"/>
          </p:cNvSpPr>
          <p:nvPr>
            <p:ph type="body" idx="1"/>
          </p:nvPr>
        </p:nvSpPr>
        <p:spPr>
          <a:xfrm>
            <a:off x="755950" y="5078600"/>
            <a:ext cx="6047700" cy="4811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6"/>
        <p:cNvGrpSpPr/>
        <p:nvPr/>
      </p:nvGrpSpPr>
      <p:grpSpPr>
        <a:xfrm>
          <a:off x="0" y="0"/>
          <a:ext cx="0" cy="0"/>
          <a:chOff x="0" y="0"/>
          <a:chExt cx="0" cy="0"/>
        </a:xfrm>
      </p:grpSpPr>
      <p:sp>
        <p:nvSpPr>
          <p:cNvPr id="177" name="Google Shape;177;p14:notes"/>
          <p:cNvSpPr txBox="1">
            <a:spLocks noGrp="1"/>
          </p:cNvSpPr>
          <p:nvPr>
            <p:ph type="body" idx="1"/>
          </p:nvPr>
        </p:nvSpPr>
        <p:spPr>
          <a:xfrm>
            <a:off x="755950" y="5078600"/>
            <a:ext cx="6047725" cy="4811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8" name="Google Shape;178;p14:notes"/>
          <p:cNvSpPr>
            <a:spLocks noGrp="1" noRot="1" noChangeAspect="1"/>
          </p:cNvSpPr>
          <p:nvPr>
            <p:ph type="sldImg" idx="2"/>
          </p:nvPr>
        </p:nvSpPr>
        <p:spPr>
          <a:xfrm>
            <a:off x="1108075" y="801688"/>
            <a:ext cx="5345113" cy="401002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g3557b111a15_0_1151"/>
          <p:cNvSpPr txBox="1">
            <a:spLocks noGrp="1"/>
          </p:cNvSpPr>
          <p:nvPr>
            <p:ph type="ctrTitle"/>
          </p:nvPr>
        </p:nvSpPr>
        <p:spPr>
          <a:xfrm>
            <a:off x="311708" y="992767"/>
            <a:ext cx="8520600" cy="27369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g3557b111a15_0_1151"/>
          <p:cNvSpPr txBox="1">
            <a:spLocks noGrp="1"/>
          </p:cNvSpPr>
          <p:nvPr>
            <p:ph type="subTitle" idx="1"/>
          </p:nvPr>
        </p:nvSpPr>
        <p:spPr>
          <a:xfrm>
            <a:off x="311700" y="3778833"/>
            <a:ext cx="8520600" cy="10569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g3557b111a15_0_1151"/>
          <p:cNvSpPr txBox="1">
            <a:spLocks noGrp="1"/>
          </p:cNvSpPr>
          <p:nvPr>
            <p:ph type="sldNum" idx="12"/>
          </p:nvPr>
        </p:nvSpPr>
        <p:spPr>
          <a:xfrm>
            <a:off x="8472458" y="6217622"/>
            <a:ext cx="548700" cy="5247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g3557b111a15_0_1155"/>
          <p:cNvSpPr txBox="1">
            <a:spLocks noGrp="1"/>
          </p:cNvSpPr>
          <p:nvPr>
            <p:ph type="title"/>
          </p:nvPr>
        </p:nvSpPr>
        <p:spPr>
          <a:xfrm>
            <a:off x="311700" y="2867800"/>
            <a:ext cx="8520600" cy="11223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g3557b111a15_0_1155"/>
          <p:cNvSpPr txBox="1">
            <a:spLocks noGrp="1"/>
          </p:cNvSpPr>
          <p:nvPr>
            <p:ph type="sldNum" idx="12"/>
          </p:nvPr>
        </p:nvSpPr>
        <p:spPr>
          <a:xfrm>
            <a:off x="8472458" y="6217622"/>
            <a:ext cx="548700" cy="5247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g3557b111a15_0_1158"/>
          <p:cNvSpPr txBox="1">
            <a:spLocks noGrp="1"/>
          </p:cNvSpPr>
          <p:nvPr>
            <p:ph type="title"/>
          </p:nvPr>
        </p:nvSpPr>
        <p:spPr>
          <a:xfrm>
            <a:off x="311700" y="593367"/>
            <a:ext cx="8520600" cy="7635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g3557b111a15_0_1158"/>
          <p:cNvSpPr txBox="1">
            <a:spLocks noGrp="1"/>
          </p:cNvSpPr>
          <p:nvPr>
            <p:ph type="body" idx="1"/>
          </p:nvPr>
        </p:nvSpPr>
        <p:spPr>
          <a:xfrm>
            <a:off x="311700" y="1536633"/>
            <a:ext cx="8520600" cy="45552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g3557b111a15_0_1158"/>
          <p:cNvSpPr txBox="1">
            <a:spLocks noGrp="1"/>
          </p:cNvSpPr>
          <p:nvPr>
            <p:ph type="sldNum" idx="12"/>
          </p:nvPr>
        </p:nvSpPr>
        <p:spPr>
          <a:xfrm>
            <a:off x="8472458" y="6217622"/>
            <a:ext cx="548700" cy="5247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g3557b111a15_0_1162"/>
          <p:cNvSpPr txBox="1">
            <a:spLocks noGrp="1"/>
          </p:cNvSpPr>
          <p:nvPr>
            <p:ph type="title"/>
          </p:nvPr>
        </p:nvSpPr>
        <p:spPr>
          <a:xfrm>
            <a:off x="311700" y="593367"/>
            <a:ext cx="8520600" cy="7635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g3557b111a15_0_1162"/>
          <p:cNvSpPr txBox="1">
            <a:spLocks noGrp="1"/>
          </p:cNvSpPr>
          <p:nvPr>
            <p:ph type="body" idx="1"/>
          </p:nvPr>
        </p:nvSpPr>
        <p:spPr>
          <a:xfrm>
            <a:off x="311700" y="1536633"/>
            <a:ext cx="3999900" cy="45552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g3557b111a15_0_1162"/>
          <p:cNvSpPr txBox="1">
            <a:spLocks noGrp="1"/>
          </p:cNvSpPr>
          <p:nvPr>
            <p:ph type="body" idx="2"/>
          </p:nvPr>
        </p:nvSpPr>
        <p:spPr>
          <a:xfrm>
            <a:off x="4832400" y="1536633"/>
            <a:ext cx="3999900" cy="45552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g3557b111a15_0_1162"/>
          <p:cNvSpPr txBox="1">
            <a:spLocks noGrp="1"/>
          </p:cNvSpPr>
          <p:nvPr>
            <p:ph type="sldNum" idx="12"/>
          </p:nvPr>
        </p:nvSpPr>
        <p:spPr>
          <a:xfrm>
            <a:off x="8472458" y="6217622"/>
            <a:ext cx="548700" cy="5247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g3557b111a15_0_1167"/>
          <p:cNvSpPr txBox="1">
            <a:spLocks noGrp="1"/>
          </p:cNvSpPr>
          <p:nvPr>
            <p:ph type="title"/>
          </p:nvPr>
        </p:nvSpPr>
        <p:spPr>
          <a:xfrm>
            <a:off x="311700" y="593367"/>
            <a:ext cx="8520600" cy="7635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g3557b111a15_0_1167"/>
          <p:cNvSpPr txBox="1">
            <a:spLocks noGrp="1"/>
          </p:cNvSpPr>
          <p:nvPr>
            <p:ph type="sldNum" idx="12"/>
          </p:nvPr>
        </p:nvSpPr>
        <p:spPr>
          <a:xfrm>
            <a:off x="8472458" y="6217622"/>
            <a:ext cx="548700" cy="5247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g3557b111a15_0_1170"/>
          <p:cNvSpPr txBox="1">
            <a:spLocks noGrp="1"/>
          </p:cNvSpPr>
          <p:nvPr>
            <p:ph type="title"/>
          </p:nvPr>
        </p:nvSpPr>
        <p:spPr>
          <a:xfrm>
            <a:off x="311700" y="740800"/>
            <a:ext cx="2808000" cy="1007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g3557b111a15_0_1170"/>
          <p:cNvSpPr txBox="1">
            <a:spLocks noGrp="1"/>
          </p:cNvSpPr>
          <p:nvPr>
            <p:ph type="body" idx="1"/>
          </p:nvPr>
        </p:nvSpPr>
        <p:spPr>
          <a:xfrm>
            <a:off x="311700" y="1852800"/>
            <a:ext cx="2808000" cy="42393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g3557b111a15_0_1170"/>
          <p:cNvSpPr txBox="1">
            <a:spLocks noGrp="1"/>
          </p:cNvSpPr>
          <p:nvPr>
            <p:ph type="sldNum" idx="12"/>
          </p:nvPr>
        </p:nvSpPr>
        <p:spPr>
          <a:xfrm>
            <a:off x="8472458" y="6217622"/>
            <a:ext cx="548700" cy="5247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g3557b111a15_0_1174"/>
          <p:cNvSpPr txBox="1">
            <a:spLocks noGrp="1"/>
          </p:cNvSpPr>
          <p:nvPr>
            <p:ph type="title"/>
          </p:nvPr>
        </p:nvSpPr>
        <p:spPr>
          <a:xfrm>
            <a:off x="490250" y="600200"/>
            <a:ext cx="6367800" cy="54543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g3557b111a15_0_1174"/>
          <p:cNvSpPr txBox="1">
            <a:spLocks noGrp="1"/>
          </p:cNvSpPr>
          <p:nvPr>
            <p:ph type="sldNum" idx="12"/>
          </p:nvPr>
        </p:nvSpPr>
        <p:spPr>
          <a:xfrm>
            <a:off x="8472458" y="6217622"/>
            <a:ext cx="548700" cy="5247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g3557b111a15_0_1177"/>
          <p:cNvSpPr/>
          <p:nvPr/>
        </p:nvSpPr>
        <p:spPr>
          <a:xfrm>
            <a:off x="4572000" y="-167"/>
            <a:ext cx="4572000" cy="68580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g3557b111a15_0_1177"/>
          <p:cNvSpPr txBox="1">
            <a:spLocks noGrp="1"/>
          </p:cNvSpPr>
          <p:nvPr>
            <p:ph type="title"/>
          </p:nvPr>
        </p:nvSpPr>
        <p:spPr>
          <a:xfrm>
            <a:off x="265500" y="1644233"/>
            <a:ext cx="4045200" cy="19764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g3557b111a15_0_1177"/>
          <p:cNvSpPr txBox="1">
            <a:spLocks noGrp="1"/>
          </p:cNvSpPr>
          <p:nvPr>
            <p:ph type="subTitle" idx="1"/>
          </p:nvPr>
        </p:nvSpPr>
        <p:spPr>
          <a:xfrm>
            <a:off x="265500" y="3737433"/>
            <a:ext cx="4045200" cy="16467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g3557b111a15_0_1177"/>
          <p:cNvSpPr txBox="1">
            <a:spLocks noGrp="1"/>
          </p:cNvSpPr>
          <p:nvPr>
            <p:ph type="body" idx="2"/>
          </p:nvPr>
        </p:nvSpPr>
        <p:spPr>
          <a:xfrm>
            <a:off x="4939500" y="965433"/>
            <a:ext cx="3837000" cy="49269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g3557b111a15_0_1177"/>
          <p:cNvSpPr txBox="1">
            <a:spLocks noGrp="1"/>
          </p:cNvSpPr>
          <p:nvPr>
            <p:ph type="sldNum" idx="12"/>
          </p:nvPr>
        </p:nvSpPr>
        <p:spPr>
          <a:xfrm>
            <a:off x="8472458" y="6217622"/>
            <a:ext cx="548700" cy="5247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g3557b111a15_0_1183"/>
          <p:cNvSpPr txBox="1">
            <a:spLocks noGrp="1"/>
          </p:cNvSpPr>
          <p:nvPr>
            <p:ph type="body" idx="1"/>
          </p:nvPr>
        </p:nvSpPr>
        <p:spPr>
          <a:xfrm>
            <a:off x="311700" y="5640767"/>
            <a:ext cx="5998800" cy="8067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g3557b111a15_0_1183"/>
          <p:cNvSpPr txBox="1">
            <a:spLocks noGrp="1"/>
          </p:cNvSpPr>
          <p:nvPr>
            <p:ph type="sldNum" idx="12"/>
          </p:nvPr>
        </p:nvSpPr>
        <p:spPr>
          <a:xfrm>
            <a:off x="8472458" y="6217622"/>
            <a:ext cx="548700" cy="5247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g3557b111a15_0_1186"/>
          <p:cNvSpPr txBox="1">
            <a:spLocks noGrp="1"/>
          </p:cNvSpPr>
          <p:nvPr>
            <p:ph type="title" hasCustomPrompt="1"/>
          </p:nvPr>
        </p:nvSpPr>
        <p:spPr>
          <a:xfrm>
            <a:off x="311700" y="1474833"/>
            <a:ext cx="8520600" cy="26181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g3557b111a15_0_1186"/>
          <p:cNvSpPr txBox="1">
            <a:spLocks noGrp="1"/>
          </p:cNvSpPr>
          <p:nvPr>
            <p:ph type="body" idx="1"/>
          </p:nvPr>
        </p:nvSpPr>
        <p:spPr>
          <a:xfrm>
            <a:off x="311700" y="4202967"/>
            <a:ext cx="8520600" cy="17343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g3557b111a15_0_1186"/>
          <p:cNvSpPr txBox="1">
            <a:spLocks noGrp="1"/>
          </p:cNvSpPr>
          <p:nvPr>
            <p:ph type="sldNum" idx="12"/>
          </p:nvPr>
        </p:nvSpPr>
        <p:spPr>
          <a:xfrm>
            <a:off x="8472458" y="6217622"/>
            <a:ext cx="548700" cy="5247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g3557b111a15_0_1190"/>
          <p:cNvSpPr txBox="1">
            <a:spLocks noGrp="1"/>
          </p:cNvSpPr>
          <p:nvPr>
            <p:ph type="sldNum" idx="12"/>
          </p:nvPr>
        </p:nvSpPr>
        <p:spPr>
          <a:xfrm>
            <a:off x="8472458" y="6217622"/>
            <a:ext cx="548700" cy="5247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50"/>
        <p:cNvGrpSpPr/>
        <p:nvPr/>
      </p:nvGrpSpPr>
      <p:grpSpPr>
        <a:xfrm>
          <a:off x="0" y="0"/>
          <a:ext cx="0" cy="0"/>
          <a:chOff x="0" y="0"/>
          <a:chExt cx="0" cy="0"/>
        </a:xfrm>
      </p:grpSpPr>
      <p:sp>
        <p:nvSpPr>
          <p:cNvPr id="51" name="Google Shape;51;g3557b111a15_0_1192"/>
          <p:cNvSpPr txBox="1">
            <a:spLocks noGrp="1"/>
          </p:cNvSpPr>
          <p:nvPr>
            <p:ph type="title"/>
          </p:nvPr>
        </p:nvSpPr>
        <p:spPr>
          <a:xfrm>
            <a:off x="457200" y="274680"/>
            <a:ext cx="8229300" cy="1142700"/>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2800"/>
              <a:buNone/>
              <a:defRPr/>
            </a:lvl1pPr>
            <a:lvl2pPr lvl="1" algn="l">
              <a:spcBef>
                <a:spcPts val="0"/>
              </a:spcBef>
              <a:spcAft>
                <a:spcPts val="0"/>
              </a:spcAft>
              <a:buSzPts val="2800"/>
              <a:buNone/>
              <a:defRPr/>
            </a:lvl2pPr>
            <a:lvl3pPr lvl="2" algn="l">
              <a:spcBef>
                <a:spcPts val="0"/>
              </a:spcBef>
              <a:spcAft>
                <a:spcPts val="0"/>
              </a:spcAft>
              <a:buSzPts val="2800"/>
              <a:buNone/>
              <a:defRPr/>
            </a:lvl3pPr>
            <a:lvl4pPr lvl="3" algn="l">
              <a:spcBef>
                <a:spcPts val="0"/>
              </a:spcBef>
              <a:spcAft>
                <a:spcPts val="0"/>
              </a:spcAft>
              <a:buSzPts val="2800"/>
              <a:buNone/>
              <a:defRPr/>
            </a:lvl4pPr>
            <a:lvl5pPr lvl="4" algn="l">
              <a:spcBef>
                <a:spcPts val="0"/>
              </a:spcBef>
              <a:spcAft>
                <a:spcPts val="0"/>
              </a:spcAft>
              <a:buSzPts val="2800"/>
              <a:buNone/>
              <a:defRPr/>
            </a:lvl5pPr>
            <a:lvl6pPr lvl="5" algn="l">
              <a:spcBef>
                <a:spcPts val="0"/>
              </a:spcBef>
              <a:spcAft>
                <a:spcPts val="0"/>
              </a:spcAft>
              <a:buSzPts val="2800"/>
              <a:buNone/>
              <a:defRPr/>
            </a:lvl6pPr>
            <a:lvl7pPr lvl="6" algn="l">
              <a:spcBef>
                <a:spcPts val="0"/>
              </a:spcBef>
              <a:spcAft>
                <a:spcPts val="0"/>
              </a:spcAft>
              <a:buSzPts val="2800"/>
              <a:buNone/>
              <a:defRPr/>
            </a:lvl7pPr>
            <a:lvl8pPr lvl="7" algn="l">
              <a:spcBef>
                <a:spcPts val="0"/>
              </a:spcBef>
              <a:spcAft>
                <a:spcPts val="0"/>
              </a:spcAft>
              <a:buSzPts val="2800"/>
              <a:buNone/>
              <a:defRPr/>
            </a:lvl8pPr>
            <a:lvl9pPr lvl="8" algn="l">
              <a:spcBef>
                <a:spcPts val="0"/>
              </a:spcBef>
              <a:spcAft>
                <a:spcPts val="0"/>
              </a:spcAft>
              <a:buSzPts val="2800"/>
              <a:buNone/>
              <a:defRPr/>
            </a:lvl9pPr>
          </a:lstStyle>
          <a:p>
            <a:endParaRPr/>
          </a:p>
        </p:txBody>
      </p:sp>
      <p:sp>
        <p:nvSpPr>
          <p:cNvPr id="52" name="Google Shape;52;g3557b111a15_0_1192"/>
          <p:cNvSpPr txBox="1">
            <a:spLocks noGrp="1"/>
          </p:cNvSpPr>
          <p:nvPr>
            <p:ph type="body" idx="1"/>
          </p:nvPr>
        </p:nvSpPr>
        <p:spPr>
          <a:xfrm>
            <a:off x="457200" y="1600200"/>
            <a:ext cx="8229300" cy="452550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800"/>
              <a:buNone/>
              <a:defRPr/>
            </a:lvl1pPr>
            <a:lvl2pPr marL="914400" lvl="1" indent="-228600" algn="l">
              <a:spcBef>
                <a:spcPts val="1200"/>
              </a:spcBef>
              <a:spcAft>
                <a:spcPts val="0"/>
              </a:spcAft>
              <a:buSzPts val="1400"/>
              <a:buNone/>
              <a:defRPr/>
            </a:lvl2pPr>
            <a:lvl3pPr marL="1371600" lvl="2" indent="-228600" algn="l">
              <a:spcBef>
                <a:spcPts val="1200"/>
              </a:spcBef>
              <a:spcAft>
                <a:spcPts val="0"/>
              </a:spcAft>
              <a:buSzPts val="1400"/>
              <a:buNone/>
              <a:defRPr/>
            </a:lvl3pPr>
            <a:lvl4pPr marL="1828800" lvl="3" indent="-228600" algn="l">
              <a:spcBef>
                <a:spcPts val="1200"/>
              </a:spcBef>
              <a:spcAft>
                <a:spcPts val="0"/>
              </a:spcAft>
              <a:buSzPts val="1400"/>
              <a:buNone/>
              <a:defRPr/>
            </a:lvl4pPr>
            <a:lvl5pPr marL="2286000" lvl="4" indent="-228600" algn="l">
              <a:spcBef>
                <a:spcPts val="1200"/>
              </a:spcBef>
              <a:spcAft>
                <a:spcPts val="0"/>
              </a:spcAft>
              <a:buSzPts val="1400"/>
              <a:buNone/>
              <a:defRPr/>
            </a:lvl5pPr>
            <a:lvl6pPr marL="2743200" lvl="5" indent="-228600" algn="l">
              <a:spcBef>
                <a:spcPts val="1200"/>
              </a:spcBef>
              <a:spcAft>
                <a:spcPts val="0"/>
              </a:spcAft>
              <a:buSzPts val="1400"/>
              <a:buNone/>
              <a:defRPr/>
            </a:lvl6pPr>
            <a:lvl7pPr marL="3200400" lvl="6" indent="-228600" algn="l">
              <a:spcBef>
                <a:spcPts val="1200"/>
              </a:spcBef>
              <a:spcAft>
                <a:spcPts val="0"/>
              </a:spcAft>
              <a:buSzPts val="1400"/>
              <a:buNone/>
              <a:defRPr/>
            </a:lvl7pPr>
            <a:lvl8pPr marL="3657600" lvl="7" indent="-228600" algn="l">
              <a:spcBef>
                <a:spcPts val="1200"/>
              </a:spcBef>
              <a:spcAft>
                <a:spcPts val="0"/>
              </a:spcAft>
              <a:buSzPts val="1400"/>
              <a:buNone/>
              <a:defRPr/>
            </a:lvl8pPr>
            <a:lvl9pPr marL="4114800" lvl="8" indent="-228600" algn="l">
              <a:spcBef>
                <a:spcPts val="1200"/>
              </a:spcBef>
              <a:spcAft>
                <a:spcPts val="1200"/>
              </a:spcAft>
              <a:buSzPts val="1400"/>
              <a:buNone/>
              <a:defRPr/>
            </a:lvl9pPr>
          </a:lstStyle>
          <a:p>
            <a:endParaRPr/>
          </a:p>
        </p:txBody>
      </p:sp>
      <p:sp>
        <p:nvSpPr>
          <p:cNvPr id="53" name="Google Shape;53;g3557b111a15_0_1192"/>
          <p:cNvSpPr txBox="1">
            <a:spLocks noGrp="1"/>
          </p:cNvSpPr>
          <p:nvPr>
            <p:ph type="ftr" idx="11"/>
          </p:nvPr>
        </p:nvSpPr>
        <p:spPr>
          <a:xfrm>
            <a:off x="3124080" y="6356520"/>
            <a:ext cx="2895000" cy="3648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Clr>
                <a:srgbClr val="000000"/>
              </a:buClr>
              <a:buSzPts val="1800"/>
              <a:buChar char="●"/>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4" name="Google Shape;54;g3557b111a15_0_1192"/>
          <p:cNvSpPr txBox="1">
            <a:spLocks noGrp="1"/>
          </p:cNvSpPr>
          <p:nvPr>
            <p:ph type="sldNum" idx="12"/>
          </p:nvPr>
        </p:nvSpPr>
        <p:spPr>
          <a:xfrm>
            <a:off x="6553080" y="6356520"/>
            <a:ext cx="2133300" cy="364800"/>
          </a:xfrm>
          <a:prstGeom prst="rect">
            <a:avLst/>
          </a:prstGeom>
          <a:noFill/>
          <a:ln>
            <a:noFill/>
          </a:ln>
        </p:spPr>
        <p:txBody>
          <a:bodyPr spcFirstLastPara="1" wrap="square" lIns="91425" tIns="45700" rIns="91425" bIns="45700" anchor="ctr" anchorCtr="0">
            <a:noAutofit/>
          </a:bodyPr>
          <a:lstStyle>
            <a:lvl1pPr marL="0" lvl="0" indent="0" algn="r">
              <a:lnSpc>
                <a:spcPct val="100000"/>
              </a:lnSpc>
              <a:spcBef>
                <a:spcPts val="0"/>
              </a:spcBef>
              <a:buClr>
                <a:srgbClr val="888888"/>
              </a:buClr>
              <a:buSzPts val="1200"/>
              <a:buFont typeface="Calibri"/>
              <a:buNone/>
              <a:defRPr sz="1200" b="0" strike="noStrike">
                <a:solidFill>
                  <a:srgbClr val="888888"/>
                </a:solidFill>
                <a:latin typeface="Calibri"/>
                <a:ea typeface="Calibri"/>
                <a:cs typeface="Calibri"/>
                <a:sym typeface="Calibri"/>
              </a:defRPr>
            </a:lvl1pPr>
            <a:lvl2pPr marL="0" lvl="1" indent="0" algn="r">
              <a:lnSpc>
                <a:spcPct val="100000"/>
              </a:lnSpc>
              <a:spcBef>
                <a:spcPts val="0"/>
              </a:spcBef>
              <a:buClr>
                <a:srgbClr val="888888"/>
              </a:buClr>
              <a:buSzPts val="1200"/>
              <a:buFont typeface="Calibri"/>
              <a:buNone/>
              <a:defRPr sz="1200" b="0" strike="noStrike">
                <a:solidFill>
                  <a:srgbClr val="888888"/>
                </a:solidFill>
                <a:latin typeface="Calibri"/>
                <a:ea typeface="Calibri"/>
                <a:cs typeface="Calibri"/>
                <a:sym typeface="Calibri"/>
              </a:defRPr>
            </a:lvl2pPr>
            <a:lvl3pPr marL="0" lvl="2" indent="0" algn="r">
              <a:lnSpc>
                <a:spcPct val="100000"/>
              </a:lnSpc>
              <a:spcBef>
                <a:spcPts val="0"/>
              </a:spcBef>
              <a:buClr>
                <a:srgbClr val="888888"/>
              </a:buClr>
              <a:buSzPts val="1200"/>
              <a:buFont typeface="Calibri"/>
              <a:buNone/>
              <a:defRPr sz="1200" b="0" strike="noStrike">
                <a:solidFill>
                  <a:srgbClr val="888888"/>
                </a:solidFill>
                <a:latin typeface="Calibri"/>
                <a:ea typeface="Calibri"/>
                <a:cs typeface="Calibri"/>
                <a:sym typeface="Calibri"/>
              </a:defRPr>
            </a:lvl3pPr>
            <a:lvl4pPr marL="0" lvl="3" indent="0" algn="r">
              <a:lnSpc>
                <a:spcPct val="100000"/>
              </a:lnSpc>
              <a:spcBef>
                <a:spcPts val="0"/>
              </a:spcBef>
              <a:buClr>
                <a:srgbClr val="888888"/>
              </a:buClr>
              <a:buSzPts val="1200"/>
              <a:buFont typeface="Calibri"/>
              <a:buNone/>
              <a:defRPr sz="1200" b="0" strike="noStrike">
                <a:solidFill>
                  <a:srgbClr val="888888"/>
                </a:solidFill>
                <a:latin typeface="Calibri"/>
                <a:ea typeface="Calibri"/>
                <a:cs typeface="Calibri"/>
                <a:sym typeface="Calibri"/>
              </a:defRPr>
            </a:lvl4pPr>
            <a:lvl5pPr marL="0" lvl="4" indent="0" algn="r">
              <a:lnSpc>
                <a:spcPct val="100000"/>
              </a:lnSpc>
              <a:spcBef>
                <a:spcPts val="0"/>
              </a:spcBef>
              <a:buClr>
                <a:srgbClr val="888888"/>
              </a:buClr>
              <a:buSzPts val="1200"/>
              <a:buFont typeface="Calibri"/>
              <a:buNone/>
              <a:defRPr sz="1200" b="0" strike="noStrike">
                <a:solidFill>
                  <a:srgbClr val="888888"/>
                </a:solidFill>
                <a:latin typeface="Calibri"/>
                <a:ea typeface="Calibri"/>
                <a:cs typeface="Calibri"/>
                <a:sym typeface="Calibri"/>
              </a:defRPr>
            </a:lvl5pPr>
            <a:lvl6pPr marL="0" lvl="5" indent="0" algn="r">
              <a:lnSpc>
                <a:spcPct val="100000"/>
              </a:lnSpc>
              <a:spcBef>
                <a:spcPts val="0"/>
              </a:spcBef>
              <a:buClr>
                <a:srgbClr val="888888"/>
              </a:buClr>
              <a:buSzPts val="1200"/>
              <a:buFont typeface="Calibri"/>
              <a:buNone/>
              <a:defRPr sz="1200" b="0" strike="noStrike">
                <a:solidFill>
                  <a:srgbClr val="888888"/>
                </a:solidFill>
                <a:latin typeface="Calibri"/>
                <a:ea typeface="Calibri"/>
                <a:cs typeface="Calibri"/>
                <a:sym typeface="Calibri"/>
              </a:defRPr>
            </a:lvl6pPr>
            <a:lvl7pPr marL="0" lvl="6" indent="0" algn="r">
              <a:lnSpc>
                <a:spcPct val="100000"/>
              </a:lnSpc>
              <a:spcBef>
                <a:spcPts val="0"/>
              </a:spcBef>
              <a:buClr>
                <a:srgbClr val="888888"/>
              </a:buClr>
              <a:buSzPts val="1200"/>
              <a:buFont typeface="Calibri"/>
              <a:buNone/>
              <a:defRPr sz="1200" b="0" strike="noStrike">
                <a:solidFill>
                  <a:srgbClr val="888888"/>
                </a:solidFill>
                <a:latin typeface="Calibri"/>
                <a:ea typeface="Calibri"/>
                <a:cs typeface="Calibri"/>
                <a:sym typeface="Calibri"/>
              </a:defRPr>
            </a:lvl7pPr>
            <a:lvl8pPr marL="0" lvl="7" indent="0" algn="r">
              <a:lnSpc>
                <a:spcPct val="100000"/>
              </a:lnSpc>
              <a:spcBef>
                <a:spcPts val="0"/>
              </a:spcBef>
              <a:buClr>
                <a:srgbClr val="888888"/>
              </a:buClr>
              <a:buSzPts val="1200"/>
              <a:buFont typeface="Calibri"/>
              <a:buNone/>
              <a:defRPr sz="1200" b="0" strike="noStrike">
                <a:solidFill>
                  <a:srgbClr val="888888"/>
                </a:solidFill>
                <a:latin typeface="Calibri"/>
                <a:ea typeface="Calibri"/>
                <a:cs typeface="Calibri"/>
                <a:sym typeface="Calibri"/>
              </a:defRPr>
            </a:lvl8pPr>
            <a:lvl9pPr marL="0" lvl="8" indent="0" algn="r">
              <a:lnSpc>
                <a:spcPct val="100000"/>
              </a:lnSpc>
              <a:spcBef>
                <a:spcPts val="0"/>
              </a:spcBef>
              <a:buClr>
                <a:srgbClr val="888888"/>
              </a:buClr>
              <a:buSzPts val="1200"/>
              <a:buFont typeface="Calibri"/>
              <a:buNone/>
              <a:defRPr sz="1200" b="0" strike="noStrik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sz="1000">
              <a:solidFill>
                <a:schemeClr val="dk2"/>
              </a:solidFill>
              <a:latin typeface="Arial"/>
              <a:ea typeface="Arial"/>
              <a:cs typeface="Arial"/>
              <a:sym typeface="Arial"/>
            </a:endParaRPr>
          </a:p>
        </p:txBody>
      </p:sp>
      <p:sp>
        <p:nvSpPr>
          <p:cNvPr id="55" name="Google Shape;55;g3557b111a15_0_1192"/>
          <p:cNvSpPr txBox="1">
            <a:spLocks noGrp="1"/>
          </p:cNvSpPr>
          <p:nvPr>
            <p:ph type="dt" idx="10"/>
          </p:nvPr>
        </p:nvSpPr>
        <p:spPr>
          <a:xfrm>
            <a:off x="457200" y="6356520"/>
            <a:ext cx="2133300" cy="3648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Clr>
                <a:srgbClr val="888888"/>
              </a:buClr>
              <a:buSzPts val="1800"/>
              <a:buChar char="●"/>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g3557b111a15_0_1147"/>
          <p:cNvSpPr txBox="1">
            <a:spLocks noGrp="1"/>
          </p:cNvSpPr>
          <p:nvPr>
            <p:ph type="title"/>
          </p:nvPr>
        </p:nvSpPr>
        <p:spPr>
          <a:xfrm>
            <a:off x="311700" y="593367"/>
            <a:ext cx="8520600" cy="7635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Font typeface="Times New Roman"/>
              <a:buNone/>
              <a:defRPr sz="2800">
                <a:solidFill>
                  <a:schemeClr val="dk1"/>
                </a:solidFill>
                <a:latin typeface="Times New Roman"/>
                <a:ea typeface="Times New Roman"/>
                <a:cs typeface="Times New Roman"/>
                <a:sym typeface="Times New Roman"/>
              </a:defRPr>
            </a:lvl1pPr>
            <a:lvl2pPr lvl="1">
              <a:spcBef>
                <a:spcPts val="0"/>
              </a:spcBef>
              <a:spcAft>
                <a:spcPts val="0"/>
              </a:spcAft>
              <a:buClr>
                <a:schemeClr val="dk1"/>
              </a:buClr>
              <a:buSzPts val="2800"/>
              <a:buFont typeface="Times New Roman"/>
              <a:buNone/>
              <a:defRPr sz="2800">
                <a:solidFill>
                  <a:schemeClr val="dk1"/>
                </a:solidFill>
                <a:latin typeface="Times New Roman"/>
                <a:ea typeface="Times New Roman"/>
                <a:cs typeface="Times New Roman"/>
                <a:sym typeface="Times New Roman"/>
              </a:defRPr>
            </a:lvl2pPr>
            <a:lvl3pPr lvl="2">
              <a:spcBef>
                <a:spcPts val="0"/>
              </a:spcBef>
              <a:spcAft>
                <a:spcPts val="0"/>
              </a:spcAft>
              <a:buClr>
                <a:schemeClr val="dk1"/>
              </a:buClr>
              <a:buSzPts val="2800"/>
              <a:buFont typeface="Times New Roman"/>
              <a:buNone/>
              <a:defRPr sz="2800">
                <a:solidFill>
                  <a:schemeClr val="dk1"/>
                </a:solidFill>
                <a:latin typeface="Times New Roman"/>
                <a:ea typeface="Times New Roman"/>
                <a:cs typeface="Times New Roman"/>
                <a:sym typeface="Times New Roman"/>
              </a:defRPr>
            </a:lvl3pPr>
            <a:lvl4pPr lvl="3">
              <a:spcBef>
                <a:spcPts val="0"/>
              </a:spcBef>
              <a:spcAft>
                <a:spcPts val="0"/>
              </a:spcAft>
              <a:buClr>
                <a:schemeClr val="dk1"/>
              </a:buClr>
              <a:buSzPts val="2800"/>
              <a:buFont typeface="Times New Roman"/>
              <a:buNone/>
              <a:defRPr sz="2800">
                <a:solidFill>
                  <a:schemeClr val="dk1"/>
                </a:solidFill>
                <a:latin typeface="Times New Roman"/>
                <a:ea typeface="Times New Roman"/>
                <a:cs typeface="Times New Roman"/>
                <a:sym typeface="Times New Roman"/>
              </a:defRPr>
            </a:lvl4pPr>
            <a:lvl5pPr lvl="4">
              <a:spcBef>
                <a:spcPts val="0"/>
              </a:spcBef>
              <a:spcAft>
                <a:spcPts val="0"/>
              </a:spcAft>
              <a:buClr>
                <a:schemeClr val="dk1"/>
              </a:buClr>
              <a:buSzPts val="2800"/>
              <a:buFont typeface="Times New Roman"/>
              <a:buNone/>
              <a:defRPr sz="2800">
                <a:solidFill>
                  <a:schemeClr val="dk1"/>
                </a:solidFill>
                <a:latin typeface="Times New Roman"/>
                <a:ea typeface="Times New Roman"/>
                <a:cs typeface="Times New Roman"/>
                <a:sym typeface="Times New Roman"/>
              </a:defRPr>
            </a:lvl5pPr>
            <a:lvl6pPr lvl="5">
              <a:spcBef>
                <a:spcPts val="0"/>
              </a:spcBef>
              <a:spcAft>
                <a:spcPts val="0"/>
              </a:spcAft>
              <a:buClr>
                <a:schemeClr val="dk1"/>
              </a:buClr>
              <a:buSzPts val="2800"/>
              <a:buFont typeface="Times New Roman"/>
              <a:buNone/>
              <a:defRPr sz="2800">
                <a:solidFill>
                  <a:schemeClr val="dk1"/>
                </a:solidFill>
                <a:latin typeface="Times New Roman"/>
                <a:ea typeface="Times New Roman"/>
                <a:cs typeface="Times New Roman"/>
                <a:sym typeface="Times New Roman"/>
              </a:defRPr>
            </a:lvl6pPr>
            <a:lvl7pPr lvl="6">
              <a:spcBef>
                <a:spcPts val="0"/>
              </a:spcBef>
              <a:spcAft>
                <a:spcPts val="0"/>
              </a:spcAft>
              <a:buClr>
                <a:schemeClr val="dk1"/>
              </a:buClr>
              <a:buSzPts val="2800"/>
              <a:buFont typeface="Times New Roman"/>
              <a:buNone/>
              <a:defRPr sz="2800">
                <a:solidFill>
                  <a:schemeClr val="dk1"/>
                </a:solidFill>
                <a:latin typeface="Times New Roman"/>
                <a:ea typeface="Times New Roman"/>
                <a:cs typeface="Times New Roman"/>
                <a:sym typeface="Times New Roman"/>
              </a:defRPr>
            </a:lvl7pPr>
            <a:lvl8pPr lvl="7">
              <a:spcBef>
                <a:spcPts val="0"/>
              </a:spcBef>
              <a:spcAft>
                <a:spcPts val="0"/>
              </a:spcAft>
              <a:buClr>
                <a:schemeClr val="dk1"/>
              </a:buClr>
              <a:buSzPts val="2800"/>
              <a:buFont typeface="Times New Roman"/>
              <a:buNone/>
              <a:defRPr sz="2800">
                <a:solidFill>
                  <a:schemeClr val="dk1"/>
                </a:solidFill>
                <a:latin typeface="Times New Roman"/>
                <a:ea typeface="Times New Roman"/>
                <a:cs typeface="Times New Roman"/>
                <a:sym typeface="Times New Roman"/>
              </a:defRPr>
            </a:lvl8pPr>
            <a:lvl9pPr lvl="8">
              <a:spcBef>
                <a:spcPts val="0"/>
              </a:spcBef>
              <a:spcAft>
                <a:spcPts val="0"/>
              </a:spcAft>
              <a:buClr>
                <a:schemeClr val="dk1"/>
              </a:buClr>
              <a:buSzPts val="2800"/>
              <a:buFont typeface="Times New Roman"/>
              <a:buNone/>
              <a:defRPr sz="2800">
                <a:solidFill>
                  <a:schemeClr val="dk1"/>
                </a:solidFill>
                <a:latin typeface="Times New Roman"/>
                <a:ea typeface="Times New Roman"/>
                <a:cs typeface="Times New Roman"/>
                <a:sym typeface="Times New Roman"/>
              </a:defRPr>
            </a:lvl9pPr>
          </a:lstStyle>
          <a:p>
            <a:endParaRPr/>
          </a:p>
        </p:txBody>
      </p:sp>
      <p:sp>
        <p:nvSpPr>
          <p:cNvPr id="7" name="Google Shape;7;g3557b111a15_0_1147"/>
          <p:cNvSpPr txBox="1">
            <a:spLocks noGrp="1"/>
          </p:cNvSpPr>
          <p:nvPr>
            <p:ph type="body" idx="1"/>
          </p:nvPr>
        </p:nvSpPr>
        <p:spPr>
          <a:xfrm>
            <a:off x="311700" y="1536633"/>
            <a:ext cx="8520600" cy="45552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Font typeface="Times New Roman"/>
              <a:buChar char="●"/>
              <a:defRPr sz="1800">
                <a:solidFill>
                  <a:schemeClr val="dk2"/>
                </a:solidFill>
                <a:latin typeface="Times New Roman"/>
                <a:ea typeface="Times New Roman"/>
                <a:cs typeface="Times New Roman"/>
                <a:sym typeface="Times New Roman"/>
              </a:defRPr>
            </a:lvl1pPr>
            <a:lvl2pPr marL="914400" lvl="1" indent="-317500">
              <a:lnSpc>
                <a:spcPct val="115000"/>
              </a:lnSpc>
              <a:spcBef>
                <a:spcPts val="0"/>
              </a:spcBef>
              <a:spcAft>
                <a:spcPts val="0"/>
              </a:spcAft>
              <a:buClr>
                <a:schemeClr val="dk2"/>
              </a:buClr>
              <a:buSzPts val="1400"/>
              <a:buFont typeface="Times New Roman"/>
              <a:buChar char="○"/>
              <a:defRPr>
                <a:solidFill>
                  <a:schemeClr val="dk2"/>
                </a:solidFill>
                <a:latin typeface="Times New Roman"/>
                <a:ea typeface="Times New Roman"/>
                <a:cs typeface="Times New Roman"/>
                <a:sym typeface="Times New Roman"/>
              </a:defRPr>
            </a:lvl2pPr>
            <a:lvl3pPr marL="1371600" lvl="2" indent="-317500">
              <a:lnSpc>
                <a:spcPct val="115000"/>
              </a:lnSpc>
              <a:spcBef>
                <a:spcPts val="0"/>
              </a:spcBef>
              <a:spcAft>
                <a:spcPts val="0"/>
              </a:spcAft>
              <a:buClr>
                <a:schemeClr val="dk2"/>
              </a:buClr>
              <a:buSzPts val="1400"/>
              <a:buFont typeface="Times New Roman"/>
              <a:buChar char="■"/>
              <a:defRPr>
                <a:solidFill>
                  <a:schemeClr val="dk2"/>
                </a:solidFill>
                <a:latin typeface="Times New Roman"/>
                <a:ea typeface="Times New Roman"/>
                <a:cs typeface="Times New Roman"/>
                <a:sym typeface="Times New Roman"/>
              </a:defRPr>
            </a:lvl3pPr>
            <a:lvl4pPr marL="1828800" lvl="3" indent="-317500">
              <a:lnSpc>
                <a:spcPct val="115000"/>
              </a:lnSpc>
              <a:spcBef>
                <a:spcPts val="0"/>
              </a:spcBef>
              <a:spcAft>
                <a:spcPts val="0"/>
              </a:spcAft>
              <a:buClr>
                <a:schemeClr val="dk2"/>
              </a:buClr>
              <a:buSzPts val="1400"/>
              <a:buFont typeface="Times New Roman"/>
              <a:buChar char="●"/>
              <a:defRPr>
                <a:solidFill>
                  <a:schemeClr val="dk2"/>
                </a:solidFill>
                <a:latin typeface="Times New Roman"/>
                <a:ea typeface="Times New Roman"/>
                <a:cs typeface="Times New Roman"/>
                <a:sym typeface="Times New Roman"/>
              </a:defRPr>
            </a:lvl4pPr>
            <a:lvl5pPr marL="2286000" lvl="4" indent="-317500">
              <a:lnSpc>
                <a:spcPct val="115000"/>
              </a:lnSpc>
              <a:spcBef>
                <a:spcPts val="0"/>
              </a:spcBef>
              <a:spcAft>
                <a:spcPts val="0"/>
              </a:spcAft>
              <a:buClr>
                <a:schemeClr val="dk2"/>
              </a:buClr>
              <a:buSzPts val="1400"/>
              <a:buFont typeface="Times New Roman"/>
              <a:buChar char="○"/>
              <a:defRPr>
                <a:solidFill>
                  <a:schemeClr val="dk2"/>
                </a:solidFill>
                <a:latin typeface="Times New Roman"/>
                <a:ea typeface="Times New Roman"/>
                <a:cs typeface="Times New Roman"/>
                <a:sym typeface="Times New Roman"/>
              </a:defRPr>
            </a:lvl5pPr>
            <a:lvl6pPr marL="2743200" lvl="5" indent="-317500">
              <a:lnSpc>
                <a:spcPct val="115000"/>
              </a:lnSpc>
              <a:spcBef>
                <a:spcPts val="0"/>
              </a:spcBef>
              <a:spcAft>
                <a:spcPts val="0"/>
              </a:spcAft>
              <a:buClr>
                <a:schemeClr val="dk2"/>
              </a:buClr>
              <a:buSzPts val="1400"/>
              <a:buFont typeface="Times New Roman"/>
              <a:buChar char="■"/>
              <a:defRPr>
                <a:solidFill>
                  <a:schemeClr val="dk2"/>
                </a:solidFill>
                <a:latin typeface="Times New Roman"/>
                <a:ea typeface="Times New Roman"/>
                <a:cs typeface="Times New Roman"/>
                <a:sym typeface="Times New Roman"/>
              </a:defRPr>
            </a:lvl6pPr>
            <a:lvl7pPr marL="3200400" lvl="6" indent="-317500">
              <a:lnSpc>
                <a:spcPct val="115000"/>
              </a:lnSpc>
              <a:spcBef>
                <a:spcPts val="0"/>
              </a:spcBef>
              <a:spcAft>
                <a:spcPts val="0"/>
              </a:spcAft>
              <a:buClr>
                <a:schemeClr val="dk2"/>
              </a:buClr>
              <a:buSzPts val="1400"/>
              <a:buFont typeface="Times New Roman"/>
              <a:buChar char="●"/>
              <a:defRPr>
                <a:solidFill>
                  <a:schemeClr val="dk2"/>
                </a:solidFill>
                <a:latin typeface="Times New Roman"/>
                <a:ea typeface="Times New Roman"/>
                <a:cs typeface="Times New Roman"/>
                <a:sym typeface="Times New Roman"/>
              </a:defRPr>
            </a:lvl7pPr>
            <a:lvl8pPr marL="3657600" lvl="7" indent="-317500">
              <a:lnSpc>
                <a:spcPct val="115000"/>
              </a:lnSpc>
              <a:spcBef>
                <a:spcPts val="0"/>
              </a:spcBef>
              <a:spcAft>
                <a:spcPts val="0"/>
              </a:spcAft>
              <a:buClr>
                <a:schemeClr val="dk2"/>
              </a:buClr>
              <a:buSzPts val="1400"/>
              <a:buFont typeface="Times New Roman"/>
              <a:buChar char="○"/>
              <a:defRPr>
                <a:solidFill>
                  <a:schemeClr val="dk2"/>
                </a:solidFill>
                <a:latin typeface="Times New Roman"/>
                <a:ea typeface="Times New Roman"/>
                <a:cs typeface="Times New Roman"/>
                <a:sym typeface="Times New Roman"/>
              </a:defRPr>
            </a:lvl8pPr>
            <a:lvl9pPr marL="4114800" lvl="8" indent="-317500">
              <a:lnSpc>
                <a:spcPct val="115000"/>
              </a:lnSpc>
              <a:spcBef>
                <a:spcPts val="0"/>
              </a:spcBef>
              <a:spcAft>
                <a:spcPts val="0"/>
              </a:spcAft>
              <a:buClr>
                <a:schemeClr val="dk2"/>
              </a:buClr>
              <a:buSzPts val="1400"/>
              <a:buFont typeface="Times New Roman"/>
              <a:buChar char="■"/>
              <a:defRPr>
                <a:solidFill>
                  <a:schemeClr val="dk2"/>
                </a:solidFill>
                <a:latin typeface="Times New Roman"/>
                <a:ea typeface="Times New Roman"/>
                <a:cs typeface="Times New Roman"/>
                <a:sym typeface="Times New Roman"/>
              </a:defRPr>
            </a:lvl9pPr>
          </a:lstStyle>
          <a:p>
            <a:endParaRPr/>
          </a:p>
        </p:txBody>
      </p:sp>
      <p:sp>
        <p:nvSpPr>
          <p:cNvPr id="8" name="Google Shape;8;g3557b111a15_0_1147"/>
          <p:cNvSpPr txBox="1">
            <a:spLocks noGrp="1"/>
          </p:cNvSpPr>
          <p:nvPr>
            <p:ph type="sldNum" idx="12"/>
          </p:nvPr>
        </p:nvSpPr>
        <p:spPr>
          <a:xfrm>
            <a:off x="8472458" y="6217622"/>
            <a:ext cx="548700" cy="5247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9"/>
        <p:cNvGrpSpPr/>
        <p:nvPr/>
      </p:nvGrpSpPr>
      <p:grpSpPr>
        <a:xfrm>
          <a:off x="0" y="0"/>
          <a:ext cx="0" cy="0"/>
          <a:chOff x="0" y="0"/>
          <a:chExt cx="0" cy="0"/>
        </a:xfrm>
      </p:grpSpPr>
      <p:sp>
        <p:nvSpPr>
          <p:cNvPr id="2" name="Title 1">
            <a:extLst>
              <a:ext uri="{FF2B5EF4-FFF2-40B4-BE49-F238E27FC236}">
                <a16:creationId xmlns:a16="http://schemas.microsoft.com/office/drawing/2014/main" id="{732D757D-3540-7E5A-02F4-B053B1CCE4FD}"/>
              </a:ext>
            </a:extLst>
          </p:cNvPr>
          <p:cNvSpPr>
            <a:spLocks noGrp="1"/>
          </p:cNvSpPr>
          <p:nvPr>
            <p:ph type="title"/>
          </p:nvPr>
        </p:nvSpPr>
        <p:spPr/>
        <p:txBody>
          <a:bodyPr>
            <a:noAutofit/>
          </a:bodyPr>
          <a:lstStyle/>
          <a:p>
            <a:r>
              <a:rPr lang="en-US" sz="5400" strike="noStrike" dirty="0">
                <a:solidFill>
                  <a:schemeClr val="dk1"/>
                </a:solidFill>
              </a:rPr>
              <a:t>AI-Powered Job Search Assistant</a:t>
            </a:r>
            <a:endParaRPr lang="en-IN" sz="5400" dirty="0"/>
          </a:p>
        </p:txBody>
      </p:sp>
      <p:sp>
        <p:nvSpPr>
          <p:cNvPr id="62" name="Google Shape;62;p1"/>
          <p:cNvSpPr txBox="1">
            <a:spLocks noGrp="1"/>
          </p:cNvSpPr>
          <p:nvPr>
            <p:ph type="subTitle" idx="4294967295"/>
          </p:nvPr>
        </p:nvSpPr>
        <p:spPr>
          <a:xfrm>
            <a:off x="0" y="3736975"/>
            <a:ext cx="4044950" cy="1647825"/>
          </a:xfrm>
          <a:prstGeom prst="rect">
            <a:avLst/>
          </a:prstGeom>
        </p:spPr>
        <p:txBody>
          <a:bodyPr spcFirstLastPara="1" wrap="square" lIns="91425" tIns="91425" rIns="91425" bIns="91425" anchor="t" anchorCtr="0">
            <a:normAutofit/>
          </a:bodyPr>
          <a:lstStyle/>
          <a:p>
            <a:pPr marL="0" lvl="0" indent="0" algn="ctr" rtl="0">
              <a:spcBef>
                <a:spcPts val="0"/>
              </a:spcBef>
              <a:spcAft>
                <a:spcPts val="0"/>
              </a:spcAft>
              <a:buNone/>
            </a:pPr>
            <a:r>
              <a:rPr lang="en-US" dirty="0"/>
              <a:t>   </a:t>
            </a:r>
            <a:endParaRPr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6"/>
        <p:cNvGrpSpPr/>
        <p:nvPr/>
      </p:nvGrpSpPr>
      <p:grpSpPr>
        <a:xfrm>
          <a:off x="0" y="0"/>
          <a:ext cx="0" cy="0"/>
          <a:chOff x="0" y="0"/>
          <a:chExt cx="0" cy="0"/>
        </a:xfrm>
      </p:grpSpPr>
      <p:sp>
        <p:nvSpPr>
          <p:cNvPr id="67" name="Google Shape;67;p2"/>
          <p:cNvSpPr txBox="1">
            <a:spLocks noGrp="1"/>
          </p:cNvSpPr>
          <p:nvPr>
            <p:ph type="title"/>
          </p:nvPr>
        </p:nvSpPr>
        <p:spPr>
          <a:xfrm>
            <a:off x="457200" y="274680"/>
            <a:ext cx="8229240" cy="114264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1"/>
              </a:buClr>
              <a:buSzPts val="4400"/>
              <a:buFont typeface="Calibri"/>
              <a:buNone/>
            </a:pPr>
            <a:r>
              <a:rPr lang="en-US" sz="4400" b="1" strike="noStrike" dirty="0">
                <a:solidFill>
                  <a:schemeClr val="dk1"/>
                </a:solidFill>
              </a:rPr>
              <a:t>Introduction</a:t>
            </a:r>
            <a:endParaRPr sz="4400" b="1" strike="noStrike" dirty="0">
              <a:solidFill>
                <a:schemeClr val="dk1"/>
              </a:solidFill>
            </a:endParaRPr>
          </a:p>
        </p:txBody>
      </p:sp>
      <p:sp>
        <p:nvSpPr>
          <p:cNvPr id="68" name="Google Shape;68;p2"/>
          <p:cNvSpPr txBox="1">
            <a:spLocks noGrp="1"/>
          </p:cNvSpPr>
          <p:nvPr>
            <p:ph type="body" idx="1"/>
          </p:nvPr>
        </p:nvSpPr>
        <p:spPr>
          <a:xfrm>
            <a:off x="457200" y="1600200"/>
            <a:ext cx="8229240" cy="4525560"/>
          </a:xfrm>
          <a:prstGeom prst="rect">
            <a:avLst/>
          </a:prstGeom>
          <a:noFill/>
          <a:ln>
            <a:noFill/>
          </a:ln>
        </p:spPr>
        <p:txBody>
          <a:bodyPr spcFirstLastPara="1" wrap="square" lIns="91425" tIns="45700" rIns="91425" bIns="45700" anchor="t" anchorCtr="0">
            <a:noAutofit/>
          </a:bodyPr>
          <a:lstStyle/>
          <a:p>
            <a:pPr>
              <a:buFont typeface="Arial" panose="020B0604020202020204" pitchFamily="34" charset="0"/>
              <a:buChar char="•"/>
            </a:pPr>
            <a:r>
              <a:rPr lang="en-US" dirty="0">
                <a:solidFill>
                  <a:schemeClr val="tx1"/>
                </a:solidFill>
              </a:rPr>
              <a:t>Traditional job portals rely on keyword-based search, leading to poor job-resume alignment.</a:t>
            </a:r>
          </a:p>
          <a:p>
            <a:pPr>
              <a:buFont typeface="Arial" panose="020B0604020202020204" pitchFamily="34" charset="0"/>
              <a:buChar char="•"/>
            </a:pPr>
            <a:r>
              <a:rPr lang="en-US" dirty="0">
                <a:solidFill>
                  <a:schemeClr val="tx1"/>
                </a:solidFill>
              </a:rPr>
              <a:t>Recruiters are overwhelmed with unqualified applications.</a:t>
            </a:r>
          </a:p>
          <a:p>
            <a:pPr>
              <a:buFont typeface="Arial" panose="020B0604020202020204" pitchFamily="34" charset="0"/>
              <a:buChar char="•"/>
            </a:pPr>
            <a:r>
              <a:rPr lang="en-US" dirty="0">
                <a:solidFill>
                  <a:schemeClr val="tx1"/>
                </a:solidFill>
              </a:rPr>
              <a:t>Our solution uses AI to understand the </a:t>
            </a:r>
            <a:r>
              <a:rPr lang="en-US" b="1" dirty="0">
                <a:solidFill>
                  <a:schemeClr val="tx1"/>
                </a:solidFill>
              </a:rPr>
              <a:t>meaning behind the text</a:t>
            </a:r>
            <a:r>
              <a:rPr lang="en-US" dirty="0">
                <a:solidFill>
                  <a:schemeClr val="tx1"/>
                </a:solidFill>
              </a:rPr>
              <a:t>, not just keywords.</a:t>
            </a:r>
          </a:p>
          <a:p>
            <a:pPr>
              <a:buFont typeface="Arial" panose="020B0604020202020204" pitchFamily="34" charset="0"/>
              <a:buChar char="•"/>
            </a:pPr>
            <a:r>
              <a:rPr lang="en-US" dirty="0">
                <a:solidFill>
                  <a:schemeClr val="tx1"/>
                </a:solidFill>
              </a:rPr>
              <a:t>Uses </a:t>
            </a:r>
            <a:r>
              <a:rPr lang="en-US" b="1" dirty="0">
                <a:solidFill>
                  <a:schemeClr val="tx1"/>
                </a:solidFill>
              </a:rPr>
              <a:t>Sentence Transformers + FAISS</a:t>
            </a:r>
            <a:r>
              <a:rPr lang="en-US" dirty="0">
                <a:solidFill>
                  <a:schemeClr val="tx1"/>
                </a:solidFill>
              </a:rPr>
              <a:t> for semantic similarity.</a:t>
            </a:r>
          </a:p>
          <a:p>
            <a:pPr>
              <a:buFont typeface="Arial" panose="020B0604020202020204" pitchFamily="34" charset="0"/>
              <a:buChar char="•"/>
            </a:pPr>
            <a:r>
              <a:rPr lang="en-US" dirty="0">
                <a:solidFill>
                  <a:schemeClr val="tx1"/>
                </a:solidFill>
              </a:rPr>
              <a:t>Enhances resumes using GPT and improves hiring outcomes with intelligent suggestions.</a:t>
            </a:r>
          </a:p>
          <a:p>
            <a:pPr>
              <a:buFont typeface="Arial" panose="020B0604020202020204" pitchFamily="34" charset="0"/>
              <a:buChar char="•"/>
            </a:pPr>
            <a:r>
              <a:rPr lang="en-US" dirty="0">
                <a:solidFill>
                  <a:schemeClr val="tx1"/>
                </a:solidFill>
              </a:rPr>
              <a:t>Mimics </a:t>
            </a:r>
            <a:r>
              <a:rPr lang="en-US" b="1" dirty="0">
                <a:solidFill>
                  <a:schemeClr val="tx1"/>
                </a:solidFill>
              </a:rPr>
              <a:t>human-like understanding</a:t>
            </a:r>
            <a:r>
              <a:rPr lang="en-US" dirty="0">
                <a:solidFill>
                  <a:schemeClr val="tx1"/>
                </a:solidFill>
              </a:rPr>
              <a:t> of resumes and job descriptions.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72"/>
        <p:cNvGrpSpPr/>
        <p:nvPr/>
      </p:nvGrpSpPr>
      <p:grpSpPr>
        <a:xfrm>
          <a:off x="0" y="0"/>
          <a:ext cx="0" cy="0"/>
          <a:chOff x="0" y="0"/>
          <a:chExt cx="0" cy="0"/>
        </a:xfrm>
      </p:grpSpPr>
      <p:sp>
        <p:nvSpPr>
          <p:cNvPr id="73" name="Google Shape;73;g3557b111a15_0_1199"/>
          <p:cNvSpPr txBox="1">
            <a:spLocks noGrp="1"/>
          </p:cNvSpPr>
          <p:nvPr>
            <p:ph type="title"/>
          </p:nvPr>
        </p:nvSpPr>
        <p:spPr>
          <a:xfrm>
            <a:off x="457200" y="274680"/>
            <a:ext cx="8229300" cy="1142700"/>
          </a:xfrm>
          <a:prstGeom prst="rect">
            <a:avLst/>
          </a:prstGeom>
        </p:spPr>
        <p:txBody>
          <a:bodyPr spcFirstLastPara="1" wrap="square" lIns="0" tIns="0" rIns="0" bIns="0" anchor="ctr" anchorCtr="0">
            <a:noAutofit/>
          </a:bodyPr>
          <a:lstStyle/>
          <a:p>
            <a:pPr marL="0" lvl="0" indent="0" algn="ctr" rtl="0">
              <a:spcBef>
                <a:spcPts val="0"/>
              </a:spcBef>
              <a:spcAft>
                <a:spcPts val="0"/>
              </a:spcAft>
              <a:buNone/>
            </a:pPr>
            <a:r>
              <a:rPr lang="en-US" sz="3700" b="1" dirty="0"/>
              <a:t>Problem Statement</a:t>
            </a:r>
            <a:endParaRPr sz="3700" b="1" dirty="0"/>
          </a:p>
        </p:txBody>
      </p:sp>
      <p:sp>
        <p:nvSpPr>
          <p:cNvPr id="74" name="Google Shape;74;g3557b111a15_0_1199"/>
          <p:cNvSpPr txBox="1">
            <a:spLocks noGrp="1"/>
          </p:cNvSpPr>
          <p:nvPr>
            <p:ph type="body" idx="1"/>
          </p:nvPr>
        </p:nvSpPr>
        <p:spPr>
          <a:xfrm>
            <a:off x="457200" y="1600200"/>
            <a:ext cx="8229300" cy="4525500"/>
          </a:xfrm>
          <a:prstGeom prst="rect">
            <a:avLst/>
          </a:prstGeom>
        </p:spPr>
        <p:txBody>
          <a:bodyPr spcFirstLastPara="1" wrap="square" lIns="0" tIns="0" rIns="0" bIns="0" anchor="t" anchorCtr="0">
            <a:normAutofit/>
          </a:bodyPr>
          <a:lstStyle/>
          <a:p>
            <a:pPr marL="228600" indent="0"/>
            <a:r>
              <a:rPr lang="en-US" dirty="0">
                <a:solidFill>
                  <a:schemeClr val="tx1"/>
                </a:solidFill>
              </a:rPr>
              <a:t>Why Traditional Job Matching Fails</a:t>
            </a:r>
          </a:p>
          <a:p>
            <a:pPr marL="228600" indent="0"/>
            <a:endParaRPr lang="en-US" dirty="0">
              <a:solidFill>
                <a:schemeClr val="tx1"/>
              </a:solidFill>
            </a:endParaRPr>
          </a:p>
          <a:p>
            <a:pPr marL="514350" indent="-285750">
              <a:buFont typeface="Arial" panose="020B0604020202020204" pitchFamily="34" charset="0"/>
              <a:buChar char="•"/>
            </a:pPr>
            <a:r>
              <a:rPr lang="en-US" dirty="0">
                <a:solidFill>
                  <a:schemeClr val="tx1"/>
                </a:solidFill>
              </a:rPr>
              <a:t>Today’s job application process is broken. Job seekers apply to dozens of roles but rarely hear back not because they’re unqualified, but because their resumes don’t match exact keywords in job descriptions.</a:t>
            </a:r>
          </a:p>
          <a:p>
            <a:pPr marL="514350" indent="-285750">
              <a:buFont typeface="Arial" panose="020B0604020202020204" pitchFamily="34" charset="0"/>
              <a:buChar char="•"/>
            </a:pPr>
            <a:r>
              <a:rPr lang="en-US" dirty="0">
                <a:solidFill>
                  <a:schemeClr val="tx1"/>
                </a:solidFill>
              </a:rPr>
              <a:t>Meanwhile, recruiters receive hundreds of resumes, many of which are irrelevant or misaligned with the job.</a:t>
            </a:r>
          </a:p>
          <a:p>
            <a:pPr marL="514350" indent="-285750">
              <a:buFont typeface="Arial" panose="020B0604020202020204" pitchFamily="34" charset="0"/>
              <a:buChar char="•"/>
            </a:pPr>
            <a:r>
              <a:rPr lang="en-US" dirty="0">
                <a:solidFill>
                  <a:schemeClr val="tx1"/>
                </a:solidFill>
              </a:rPr>
              <a:t>The root issue is traditional job portals rely heavily on </a:t>
            </a:r>
            <a:r>
              <a:rPr lang="en-US" b="1" dirty="0">
                <a:solidFill>
                  <a:schemeClr val="tx1"/>
                </a:solidFill>
              </a:rPr>
              <a:t>keyword-based filters</a:t>
            </a:r>
            <a:r>
              <a:rPr lang="en-US" dirty="0">
                <a:solidFill>
                  <a:schemeClr val="tx1"/>
                </a:solidFill>
              </a:rPr>
              <a:t>, which don’t understand the context, potential, or meaning behind someone’s experience.</a:t>
            </a:r>
          </a:p>
          <a:p>
            <a:pPr marL="514350" indent="-285750">
              <a:buFont typeface="Arial" panose="020B0604020202020204" pitchFamily="34" charset="0"/>
              <a:buChar char="•"/>
            </a:pPr>
            <a:endParaRPr lang="en-US" dirty="0">
              <a:solidFill>
                <a:schemeClr val="tx1"/>
              </a:solidFill>
            </a:endParaRPr>
          </a:p>
          <a:p>
            <a:pPr marL="514350" indent="-285750">
              <a:buFont typeface="Arial" panose="020B0604020202020204" pitchFamily="34" charset="0"/>
              <a:buChar char="•"/>
            </a:pPr>
            <a:endParaRPr lang="en-US" dirty="0">
              <a:solidFill>
                <a:schemeClr val="tx1"/>
              </a:solidFill>
            </a:endParaRPr>
          </a:p>
          <a:p>
            <a:pPr marL="228600" indent="0"/>
            <a:r>
              <a:rPr lang="en-US" i="1" dirty="0">
                <a:solidFill>
                  <a:schemeClr val="tx1"/>
                </a:solidFill>
              </a:rPr>
              <a:t>     What if we could match meaning instead of words?</a:t>
            </a:r>
            <a:r>
              <a:rPr lang="en-US" dirty="0">
                <a:solidFill>
                  <a:schemeClr val="tx1"/>
                </a:solidFill>
              </a:rPr>
              <a:t> </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8"/>
        <p:cNvGrpSpPr/>
        <p:nvPr/>
      </p:nvGrpSpPr>
      <p:grpSpPr>
        <a:xfrm>
          <a:off x="0" y="0"/>
          <a:ext cx="0" cy="0"/>
          <a:chOff x="0" y="0"/>
          <a:chExt cx="0" cy="0"/>
        </a:xfrm>
      </p:grpSpPr>
      <p:sp>
        <p:nvSpPr>
          <p:cNvPr id="79" name="Google Shape;79;g3557b111a15_0_1206"/>
          <p:cNvSpPr txBox="1">
            <a:spLocks noGrp="1"/>
          </p:cNvSpPr>
          <p:nvPr>
            <p:ph type="title"/>
          </p:nvPr>
        </p:nvSpPr>
        <p:spPr>
          <a:xfrm>
            <a:off x="457200" y="274680"/>
            <a:ext cx="8229300" cy="1142700"/>
          </a:xfrm>
          <a:prstGeom prst="rect">
            <a:avLst/>
          </a:prstGeom>
        </p:spPr>
        <p:txBody>
          <a:bodyPr spcFirstLastPara="1" wrap="square" lIns="0" tIns="0" rIns="0" bIns="0" anchor="ctr" anchorCtr="0">
            <a:noAutofit/>
          </a:bodyPr>
          <a:lstStyle/>
          <a:p>
            <a:pPr marL="0" lvl="0" indent="0" algn="ctr" rtl="0">
              <a:spcBef>
                <a:spcPts val="0"/>
              </a:spcBef>
              <a:spcAft>
                <a:spcPts val="0"/>
              </a:spcAft>
              <a:buNone/>
            </a:pPr>
            <a:r>
              <a:rPr lang="en-US" sz="3500" b="1" dirty="0"/>
              <a:t>Our Solutions</a:t>
            </a:r>
            <a:endParaRPr sz="3500" b="1" dirty="0"/>
          </a:p>
        </p:txBody>
      </p:sp>
      <p:sp>
        <p:nvSpPr>
          <p:cNvPr id="80" name="Google Shape;80;g3557b111a15_0_1206"/>
          <p:cNvSpPr txBox="1">
            <a:spLocks noGrp="1"/>
          </p:cNvSpPr>
          <p:nvPr>
            <p:ph type="body" idx="1"/>
          </p:nvPr>
        </p:nvSpPr>
        <p:spPr>
          <a:xfrm>
            <a:off x="457200" y="1600200"/>
            <a:ext cx="8229300" cy="4525500"/>
          </a:xfrm>
          <a:prstGeom prst="rect">
            <a:avLst/>
          </a:prstGeom>
        </p:spPr>
        <p:txBody>
          <a:bodyPr spcFirstLastPara="1" wrap="square" lIns="0" tIns="0" rIns="0" bIns="0" anchor="t" anchorCtr="0">
            <a:normAutofit/>
          </a:bodyPr>
          <a:lstStyle/>
          <a:p>
            <a:pPr marL="228600" indent="0"/>
            <a:r>
              <a:rPr lang="en-US" dirty="0">
                <a:solidFill>
                  <a:schemeClr val="tx1"/>
                </a:solidFill>
              </a:rPr>
              <a:t>We built a </a:t>
            </a:r>
            <a:r>
              <a:rPr lang="en-US" b="1" dirty="0">
                <a:solidFill>
                  <a:schemeClr val="tx1"/>
                </a:solidFill>
              </a:rPr>
              <a:t>semantic job recommendation engine</a:t>
            </a:r>
            <a:r>
              <a:rPr lang="en-US" dirty="0">
                <a:solidFill>
                  <a:schemeClr val="tx1"/>
                </a:solidFill>
              </a:rPr>
              <a:t>. </a:t>
            </a:r>
          </a:p>
          <a:p>
            <a:pPr marL="514350" indent="-285750">
              <a:buFont typeface="Arial" panose="020B0604020202020204" pitchFamily="34" charset="0"/>
              <a:buChar char="•"/>
            </a:pPr>
            <a:r>
              <a:rPr lang="en-US" dirty="0">
                <a:solidFill>
                  <a:schemeClr val="tx1"/>
                </a:solidFill>
              </a:rPr>
              <a:t>It uses AI models to understand what a resume is actually saying and what a job truly requires.</a:t>
            </a:r>
          </a:p>
          <a:p>
            <a:pPr marL="228600" indent="0"/>
            <a:endParaRPr lang="en-US" dirty="0">
              <a:solidFill>
                <a:schemeClr val="tx1"/>
              </a:solidFill>
            </a:endParaRPr>
          </a:p>
          <a:p>
            <a:pPr>
              <a:buNone/>
            </a:pPr>
            <a:r>
              <a:rPr lang="en-US" dirty="0">
                <a:solidFill>
                  <a:schemeClr val="tx1"/>
                </a:solidFill>
              </a:rPr>
              <a:t>Our system:</a:t>
            </a:r>
          </a:p>
          <a:p>
            <a:pPr>
              <a:buFont typeface="Arial" panose="020B0604020202020204" pitchFamily="34" charset="0"/>
              <a:buChar char="•"/>
            </a:pPr>
            <a:r>
              <a:rPr lang="en-US" dirty="0">
                <a:solidFill>
                  <a:schemeClr val="tx1"/>
                </a:solidFill>
              </a:rPr>
              <a:t>Extracts key skills and context using NLP</a:t>
            </a:r>
          </a:p>
          <a:p>
            <a:pPr>
              <a:buFont typeface="Arial" panose="020B0604020202020204" pitchFamily="34" charset="0"/>
              <a:buChar char="•"/>
            </a:pPr>
            <a:r>
              <a:rPr lang="en-US" dirty="0">
                <a:solidFill>
                  <a:schemeClr val="tx1"/>
                </a:solidFill>
              </a:rPr>
              <a:t>Encodes both resumes and job descriptions into </a:t>
            </a:r>
            <a:r>
              <a:rPr lang="en-US" b="1" dirty="0">
                <a:solidFill>
                  <a:schemeClr val="tx1"/>
                </a:solidFill>
              </a:rPr>
              <a:t>sentence embeddings</a:t>
            </a:r>
            <a:r>
              <a:rPr lang="en-US" dirty="0">
                <a:solidFill>
                  <a:schemeClr val="tx1"/>
                </a:solidFill>
              </a:rPr>
              <a:t> using a transformer model, matches them based on </a:t>
            </a:r>
            <a:r>
              <a:rPr lang="en-US" b="1" dirty="0">
                <a:solidFill>
                  <a:schemeClr val="tx1"/>
                </a:solidFill>
              </a:rPr>
              <a:t>semantic similarity</a:t>
            </a:r>
            <a:endParaRPr lang="en-US" dirty="0">
              <a:solidFill>
                <a:schemeClr val="tx1"/>
              </a:solidFill>
            </a:endParaRPr>
          </a:p>
          <a:p>
            <a:pPr>
              <a:buFont typeface="Arial" panose="020B0604020202020204" pitchFamily="34" charset="0"/>
              <a:buChar char="•"/>
            </a:pPr>
            <a:r>
              <a:rPr lang="en-US" dirty="0">
                <a:solidFill>
                  <a:schemeClr val="tx1"/>
                </a:solidFill>
              </a:rPr>
              <a:t>And recommends the most relevant jobs accurately and quickly.</a:t>
            </a:r>
          </a:p>
          <a:p>
            <a:endParaRPr lang="en-US" dirty="0">
              <a:solidFill>
                <a:schemeClr val="tx1"/>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84"/>
        <p:cNvGrpSpPr/>
        <p:nvPr/>
      </p:nvGrpSpPr>
      <p:grpSpPr>
        <a:xfrm>
          <a:off x="0" y="0"/>
          <a:ext cx="0" cy="0"/>
          <a:chOff x="0" y="0"/>
          <a:chExt cx="0" cy="0"/>
        </a:xfrm>
      </p:grpSpPr>
      <p:sp>
        <p:nvSpPr>
          <p:cNvPr id="85" name="Google Shape;85;p3"/>
          <p:cNvSpPr txBox="1">
            <a:spLocks noGrp="1"/>
          </p:cNvSpPr>
          <p:nvPr>
            <p:ph type="title"/>
          </p:nvPr>
        </p:nvSpPr>
        <p:spPr>
          <a:xfrm>
            <a:off x="457200" y="274680"/>
            <a:ext cx="8229240" cy="114264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1"/>
              </a:buClr>
              <a:buSzPts val="4400"/>
              <a:buFont typeface="Calibri"/>
              <a:buNone/>
            </a:pPr>
            <a:r>
              <a:rPr lang="en-US" sz="4400" b="1" strike="noStrike" dirty="0">
                <a:solidFill>
                  <a:schemeClr val="dk1"/>
                </a:solidFill>
              </a:rPr>
              <a:t>Objectives</a:t>
            </a:r>
            <a:endParaRPr sz="4400" b="1" strike="noStrike" dirty="0">
              <a:solidFill>
                <a:schemeClr val="dk1"/>
              </a:solidFill>
            </a:endParaRPr>
          </a:p>
        </p:txBody>
      </p:sp>
      <p:sp>
        <p:nvSpPr>
          <p:cNvPr id="86" name="Google Shape;86;p3"/>
          <p:cNvSpPr txBox="1">
            <a:spLocks noGrp="1"/>
          </p:cNvSpPr>
          <p:nvPr>
            <p:ph type="body" idx="1"/>
          </p:nvPr>
        </p:nvSpPr>
        <p:spPr>
          <a:xfrm>
            <a:off x="457200" y="1600200"/>
            <a:ext cx="8229240" cy="4525560"/>
          </a:xfrm>
          <a:prstGeom prst="rect">
            <a:avLst/>
          </a:prstGeom>
          <a:noFill/>
          <a:ln>
            <a:noFill/>
          </a:ln>
        </p:spPr>
        <p:txBody>
          <a:bodyPr spcFirstLastPara="1" wrap="square" lIns="91425" tIns="45700" rIns="91425" bIns="45700" anchor="t" anchorCtr="0">
            <a:noAutofit/>
          </a:bodyPr>
          <a:lstStyle/>
          <a:p>
            <a:pPr marL="0" lvl="0" indent="-114300" algn="l" rtl="0">
              <a:lnSpc>
                <a:spcPct val="100000"/>
              </a:lnSpc>
              <a:spcBef>
                <a:spcPts val="641"/>
              </a:spcBef>
              <a:spcAft>
                <a:spcPts val="0"/>
              </a:spcAft>
              <a:buClr>
                <a:srgbClr val="000000"/>
              </a:buClr>
              <a:buSzPts val="1800"/>
              <a:buChar char="•"/>
            </a:pPr>
            <a:r>
              <a:rPr lang="en-US" dirty="0">
                <a:solidFill>
                  <a:schemeClr val="dk1"/>
                </a:solidFill>
              </a:rPr>
              <a:t> Preprocess and normalize resumes and job descriptions for AI consumption.</a:t>
            </a:r>
          </a:p>
          <a:p>
            <a:pPr marL="0" lvl="0" indent="-114300" algn="l" rtl="0">
              <a:lnSpc>
                <a:spcPct val="100000"/>
              </a:lnSpc>
              <a:spcBef>
                <a:spcPts val="641"/>
              </a:spcBef>
              <a:spcAft>
                <a:spcPts val="0"/>
              </a:spcAft>
              <a:buClr>
                <a:srgbClr val="000000"/>
              </a:buClr>
              <a:buSzPts val="1800"/>
              <a:buChar char="•"/>
            </a:pPr>
            <a:r>
              <a:rPr lang="en-US" dirty="0">
                <a:solidFill>
                  <a:schemeClr val="dk1"/>
                </a:solidFill>
              </a:rPr>
              <a:t> Use sentence embeddings (MiniLM) to measure deep semantic similarity.</a:t>
            </a:r>
          </a:p>
          <a:p>
            <a:pPr marL="0" lvl="0" indent="-114300" algn="l" rtl="0">
              <a:lnSpc>
                <a:spcPct val="100000"/>
              </a:lnSpc>
              <a:spcBef>
                <a:spcPts val="641"/>
              </a:spcBef>
              <a:spcAft>
                <a:spcPts val="0"/>
              </a:spcAft>
              <a:buClr>
                <a:srgbClr val="000000"/>
              </a:buClr>
              <a:buSzPts val="1800"/>
              <a:buChar char="•"/>
            </a:pPr>
            <a:r>
              <a:rPr lang="en-US" dirty="0">
                <a:solidFill>
                  <a:schemeClr val="dk1"/>
                </a:solidFill>
              </a:rPr>
              <a:t> Build a scalable, RESTful Flask API for matching resumes to jobs.</a:t>
            </a:r>
          </a:p>
          <a:p>
            <a:pPr marL="0" lvl="0" indent="-114300" algn="l" rtl="0">
              <a:lnSpc>
                <a:spcPct val="100000"/>
              </a:lnSpc>
              <a:spcBef>
                <a:spcPts val="641"/>
              </a:spcBef>
              <a:spcAft>
                <a:spcPts val="0"/>
              </a:spcAft>
              <a:buClr>
                <a:srgbClr val="000000"/>
              </a:buClr>
              <a:buSzPts val="1800"/>
              <a:buChar char="•"/>
            </a:pPr>
            <a:r>
              <a:rPr lang="en-US" dirty="0">
                <a:solidFill>
                  <a:schemeClr val="dk1"/>
                </a:solidFill>
              </a:rPr>
              <a:t> Design a user-friendly React interface with real-time recommendations.</a:t>
            </a:r>
          </a:p>
          <a:p>
            <a:pPr marL="0" lvl="0" indent="-114300" algn="l" rtl="0">
              <a:lnSpc>
                <a:spcPct val="100000"/>
              </a:lnSpc>
              <a:spcBef>
                <a:spcPts val="641"/>
              </a:spcBef>
              <a:spcAft>
                <a:spcPts val="0"/>
              </a:spcAft>
              <a:buClr>
                <a:srgbClr val="000000"/>
              </a:buClr>
              <a:buSzPts val="1800"/>
              <a:buChar char="•"/>
            </a:pPr>
            <a:r>
              <a:rPr lang="en-US" dirty="0">
                <a:solidFill>
                  <a:schemeClr val="dk1"/>
                </a:solidFill>
              </a:rPr>
              <a:t> Provide visual explanation tools (e.g., similarity scores, heatmaps).</a:t>
            </a:r>
          </a:p>
          <a:p>
            <a:pPr marL="0" lvl="0" indent="-114300" algn="l" rtl="0">
              <a:lnSpc>
                <a:spcPct val="100000"/>
              </a:lnSpc>
              <a:spcBef>
                <a:spcPts val="641"/>
              </a:spcBef>
              <a:spcAft>
                <a:spcPts val="0"/>
              </a:spcAft>
              <a:buClr>
                <a:srgbClr val="000000"/>
              </a:buClr>
              <a:buSzPts val="1800"/>
              <a:buChar char="•"/>
            </a:pPr>
            <a:r>
              <a:rPr lang="en-US" dirty="0">
                <a:solidFill>
                  <a:schemeClr val="dk1"/>
                </a:solidFill>
              </a:rPr>
              <a:t> Enhance resumes with AI-driven feedback to boost candidate success</a:t>
            </a:r>
            <a:endParaRPr dirty="0">
              <a:solidFill>
                <a:schemeClr val="dk1"/>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96"/>
        <p:cNvGrpSpPr/>
        <p:nvPr/>
      </p:nvGrpSpPr>
      <p:grpSpPr>
        <a:xfrm>
          <a:off x="0" y="0"/>
          <a:ext cx="0" cy="0"/>
          <a:chOff x="0" y="0"/>
          <a:chExt cx="0" cy="0"/>
        </a:xfrm>
      </p:grpSpPr>
      <p:sp>
        <p:nvSpPr>
          <p:cNvPr id="97" name="Google Shape;97;g3557b111a15_0_1285"/>
          <p:cNvSpPr txBox="1">
            <a:spLocks noGrp="1"/>
          </p:cNvSpPr>
          <p:nvPr>
            <p:ph type="title"/>
          </p:nvPr>
        </p:nvSpPr>
        <p:spPr>
          <a:xfrm>
            <a:off x="311700" y="-18682"/>
            <a:ext cx="8520600" cy="763500"/>
          </a:xfrm>
          <a:prstGeom prst="rect">
            <a:avLst/>
          </a:prstGeom>
        </p:spPr>
        <p:txBody>
          <a:bodyPr spcFirstLastPara="1" wrap="square" lIns="91425" tIns="91425" rIns="91425" bIns="91425" anchor="t" anchorCtr="0">
            <a:normAutofit/>
          </a:bodyPr>
          <a:lstStyle/>
          <a:p>
            <a:pPr marL="0" lvl="0" indent="0" algn="ctr" rtl="0">
              <a:spcBef>
                <a:spcPts val="0"/>
              </a:spcBef>
              <a:spcAft>
                <a:spcPts val="0"/>
              </a:spcAft>
              <a:buNone/>
            </a:pPr>
            <a:r>
              <a:rPr lang="en-US" b="1" dirty="0"/>
              <a:t>Architecture</a:t>
            </a:r>
            <a:endParaRPr b="1" dirty="0"/>
          </a:p>
        </p:txBody>
      </p:sp>
      <p:sp>
        <p:nvSpPr>
          <p:cNvPr id="98" name="Google Shape;98;g3557b111a15_0_1285"/>
          <p:cNvSpPr txBox="1">
            <a:spLocks noGrp="1"/>
          </p:cNvSpPr>
          <p:nvPr>
            <p:ph type="body" idx="1"/>
          </p:nvPr>
        </p:nvSpPr>
        <p:spPr>
          <a:xfrm>
            <a:off x="216816" y="744818"/>
            <a:ext cx="4520700" cy="5782982"/>
          </a:xfrm>
          <a:prstGeom prst="rect">
            <a:avLst/>
          </a:prstGeom>
        </p:spPr>
        <p:txBody>
          <a:bodyPr spcFirstLastPara="1" wrap="square" lIns="91425" tIns="91425" rIns="91425" bIns="91425" anchor="t" anchorCtr="0">
            <a:noAutofit/>
          </a:bodyPr>
          <a:lstStyle/>
          <a:p>
            <a:pPr marL="0" marR="0">
              <a:lnSpc>
                <a:spcPct val="107000"/>
              </a:lnSpc>
              <a:spcAft>
                <a:spcPts val="800"/>
              </a:spcAft>
              <a:buNone/>
            </a:pPr>
            <a:r>
              <a:rPr lang="en-IN" sz="1000" b="1" dirty="0">
                <a:solidFill>
                  <a:srgbClr val="333333"/>
                </a:solidFill>
                <a:effectLst/>
                <a:latin typeface="Times New Roman" panose="02020603050405020304" pitchFamily="18" charset="0"/>
                <a:ea typeface="Calibri" panose="020F0502020204030204" pitchFamily="34" charset="0"/>
              </a:rPr>
              <a:t>Frontend (React.js):</a:t>
            </a:r>
          </a:p>
          <a:p>
            <a:pPr marL="0" marR="0">
              <a:lnSpc>
                <a:spcPct val="107000"/>
              </a:lnSpc>
              <a:spcAft>
                <a:spcPts val="800"/>
              </a:spcAft>
              <a:buNone/>
            </a:pPr>
            <a:r>
              <a:rPr lang="en-IN" sz="1000" b="0" dirty="0">
                <a:solidFill>
                  <a:srgbClr val="333333"/>
                </a:solidFill>
                <a:effectLst/>
                <a:latin typeface="Times New Roman" panose="02020603050405020304" pitchFamily="18" charset="0"/>
                <a:ea typeface="Calibri" panose="020F0502020204030204" pitchFamily="34" charset="0"/>
              </a:rPr>
              <a:t>User interface for resume input and job results.</a:t>
            </a:r>
            <a:endParaRPr lang="en-IN" sz="1000" b="1" dirty="0">
              <a:solidFill>
                <a:srgbClr val="333333"/>
              </a:solidFill>
              <a:effectLst/>
              <a:latin typeface="Times New Roman" panose="02020603050405020304" pitchFamily="18" charset="0"/>
              <a:ea typeface="Calibri" panose="020F0502020204030204" pitchFamily="34" charset="0"/>
            </a:endParaRPr>
          </a:p>
          <a:p>
            <a:pPr marL="0" marR="0">
              <a:lnSpc>
                <a:spcPct val="107000"/>
              </a:lnSpc>
              <a:spcAft>
                <a:spcPts val="800"/>
              </a:spcAft>
              <a:buNone/>
            </a:pPr>
            <a:r>
              <a:rPr lang="en-IN" sz="1000" b="0" dirty="0">
                <a:solidFill>
                  <a:srgbClr val="333333"/>
                </a:solidFill>
                <a:effectLst/>
                <a:latin typeface="Times New Roman" panose="02020603050405020304" pitchFamily="18" charset="0"/>
                <a:ea typeface="Calibri" panose="020F0502020204030204" pitchFamily="34" charset="0"/>
              </a:rPr>
              <a:t>Chosen for its dynamic, responsive, and component-based design.</a:t>
            </a:r>
            <a:endParaRPr lang="en-IN" sz="1000" b="1" dirty="0">
              <a:solidFill>
                <a:srgbClr val="333333"/>
              </a:solidFill>
              <a:effectLst/>
              <a:latin typeface="Times New Roman" panose="02020603050405020304" pitchFamily="18" charset="0"/>
              <a:ea typeface="Calibri" panose="020F0502020204030204" pitchFamily="34" charset="0"/>
            </a:endParaRPr>
          </a:p>
          <a:p>
            <a:pPr marL="0" marR="0">
              <a:lnSpc>
                <a:spcPct val="107000"/>
              </a:lnSpc>
              <a:spcAft>
                <a:spcPts val="800"/>
              </a:spcAft>
              <a:buNone/>
            </a:pPr>
            <a:r>
              <a:rPr lang="en-IN" sz="1000" b="1" dirty="0">
                <a:solidFill>
                  <a:srgbClr val="333333"/>
                </a:solidFill>
                <a:effectLst/>
                <a:latin typeface="Times New Roman" panose="02020603050405020304" pitchFamily="18" charset="0"/>
                <a:ea typeface="Calibri" panose="020F0502020204030204" pitchFamily="34" charset="0"/>
              </a:rPr>
              <a:t>Backend (Flask API):</a:t>
            </a:r>
          </a:p>
          <a:p>
            <a:pPr marL="0" marR="0">
              <a:lnSpc>
                <a:spcPct val="107000"/>
              </a:lnSpc>
              <a:spcAft>
                <a:spcPts val="800"/>
              </a:spcAft>
              <a:buNone/>
            </a:pPr>
            <a:r>
              <a:rPr lang="en-IN" sz="1000" b="0" dirty="0">
                <a:solidFill>
                  <a:srgbClr val="333333"/>
                </a:solidFill>
                <a:effectLst/>
                <a:latin typeface="Times New Roman" panose="02020603050405020304" pitchFamily="18" charset="0"/>
                <a:ea typeface="Calibri" panose="020F0502020204030204" pitchFamily="34" charset="0"/>
              </a:rPr>
              <a:t>Handles user requests and routes data to processing modules.</a:t>
            </a:r>
            <a:endParaRPr lang="en-IN" sz="1000" b="1" dirty="0">
              <a:solidFill>
                <a:srgbClr val="333333"/>
              </a:solidFill>
              <a:effectLst/>
              <a:latin typeface="Times New Roman" panose="02020603050405020304" pitchFamily="18" charset="0"/>
              <a:ea typeface="Calibri" panose="020F0502020204030204" pitchFamily="34" charset="0"/>
            </a:endParaRPr>
          </a:p>
          <a:p>
            <a:pPr marL="0" marR="0">
              <a:lnSpc>
                <a:spcPct val="107000"/>
              </a:lnSpc>
              <a:spcAft>
                <a:spcPts val="800"/>
              </a:spcAft>
              <a:buNone/>
            </a:pPr>
            <a:r>
              <a:rPr lang="en-IN" sz="1000" b="0" dirty="0">
                <a:solidFill>
                  <a:srgbClr val="333333"/>
                </a:solidFill>
                <a:effectLst/>
                <a:latin typeface="Times New Roman" panose="02020603050405020304" pitchFamily="18" charset="0"/>
                <a:ea typeface="Calibri" panose="020F0502020204030204" pitchFamily="34" charset="0"/>
              </a:rPr>
              <a:t>Lightweight, modular, and built for scalability.</a:t>
            </a:r>
            <a:endParaRPr lang="en-IN" sz="1000" b="1" dirty="0">
              <a:solidFill>
                <a:srgbClr val="333333"/>
              </a:solidFill>
              <a:effectLst/>
              <a:latin typeface="Times New Roman" panose="02020603050405020304" pitchFamily="18" charset="0"/>
              <a:ea typeface="Calibri" panose="020F0502020204030204" pitchFamily="34" charset="0"/>
            </a:endParaRPr>
          </a:p>
          <a:p>
            <a:pPr marL="0" marR="0">
              <a:lnSpc>
                <a:spcPct val="107000"/>
              </a:lnSpc>
              <a:spcAft>
                <a:spcPts val="800"/>
              </a:spcAft>
              <a:buNone/>
            </a:pPr>
            <a:r>
              <a:rPr lang="en-IN" sz="1000" b="1" dirty="0">
                <a:solidFill>
                  <a:srgbClr val="333333"/>
                </a:solidFill>
                <a:effectLst/>
                <a:latin typeface="Times New Roman" panose="02020603050405020304" pitchFamily="18" charset="0"/>
                <a:ea typeface="Calibri" panose="020F0502020204030204" pitchFamily="34" charset="0"/>
              </a:rPr>
              <a:t>AI Processing Engine:</a:t>
            </a:r>
          </a:p>
          <a:p>
            <a:pPr marL="0" marR="0">
              <a:lnSpc>
                <a:spcPct val="107000"/>
              </a:lnSpc>
              <a:spcAft>
                <a:spcPts val="800"/>
              </a:spcAft>
              <a:buNone/>
            </a:pPr>
            <a:r>
              <a:rPr lang="en-IN" sz="1000" b="0" dirty="0">
                <a:solidFill>
                  <a:srgbClr val="333333"/>
                </a:solidFill>
                <a:effectLst/>
                <a:latin typeface="Times New Roman" panose="02020603050405020304" pitchFamily="18" charset="0"/>
                <a:ea typeface="Calibri" panose="020F0502020204030204" pitchFamily="34" charset="0"/>
              </a:rPr>
              <a:t>SentenceTransformers (all-MiniLM-L6-v2) used for semantic understanding.</a:t>
            </a:r>
            <a:endParaRPr lang="en-IN" sz="1000" b="1" dirty="0">
              <a:solidFill>
                <a:srgbClr val="333333"/>
              </a:solidFill>
              <a:effectLst/>
              <a:latin typeface="Times New Roman" panose="02020603050405020304" pitchFamily="18" charset="0"/>
              <a:ea typeface="Calibri" panose="020F0502020204030204" pitchFamily="34" charset="0"/>
            </a:endParaRPr>
          </a:p>
          <a:p>
            <a:pPr marL="0" marR="0">
              <a:lnSpc>
                <a:spcPct val="107000"/>
              </a:lnSpc>
              <a:spcAft>
                <a:spcPts val="800"/>
              </a:spcAft>
              <a:buNone/>
            </a:pPr>
            <a:r>
              <a:rPr lang="en-IN" sz="1000" b="0" dirty="0">
                <a:solidFill>
                  <a:srgbClr val="333333"/>
                </a:solidFill>
                <a:effectLst/>
                <a:latin typeface="Times New Roman" panose="02020603050405020304" pitchFamily="18" charset="0"/>
                <a:ea typeface="Calibri" panose="020F0502020204030204" pitchFamily="34" charset="0"/>
              </a:rPr>
              <a:t>Extracts skills/entities and converts text into embeddings.</a:t>
            </a:r>
            <a:endParaRPr lang="en-IN" sz="1000" b="1" dirty="0">
              <a:solidFill>
                <a:srgbClr val="333333"/>
              </a:solidFill>
              <a:effectLst/>
              <a:latin typeface="Times New Roman" panose="02020603050405020304" pitchFamily="18" charset="0"/>
              <a:ea typeface="Calibri" panose="020F0502020204030204" pitchFamily="34" charset="0"/>
            </a:endParaRPr>
          </a:p>
          <a:p>
            <a:pPr marL="0" marR="0">
              <a:lnSpc>
                <a:spcPct val="107000"/>
              </a:lnSpc>
              <a:spcAft>
                <a:spcPts val="800"/>
              </a:spcAft>
              <a:buNone/>
            </a:pPr>
            <a:r>
              <a:rPr lang="en-IN" sz="1000" b="0" dirty="0">
                <a:solidFill>
                  <a:srgbClr val="333333"/>
                </a:solidFill>
                <a:effectLst/>
                <a:latin typeface="Times New Roman" panose="02020603050405020304" pitchFamily="18" charset="0"/>
                <a:ea typeface="Calibri" panose="020F0502020204030204" pitchFamily="34" charset="0"/>
              </a:rPr>
              <a:t>Enables context-aware resume–job matching.</a:t>
            </a:r>
            <a:endParaRPr lang="en-IN" sz="1000" b="1" dirty="0">
              <a:solidFill>
                <a:srgbClr val="333333"/>
              </a:solidFill>
              <a:effectLst/>
              <a:latin typeface="Times New Roman" panose="02020603050405020304" pitchFamily="18" charset="0"/>
              <a:ea typeface="Calibri" panose="020F0502020204030204" pitchFamily="34" charset="0"/>
            </a:endParaRPr>
          </a:p>
          <a:p>
            <a:pPr marL="0" marR="0">
              <a:lnSpc>
                <a:spcPct val="107000"/>
              </a:lnSpc>
              <a:spcAft>
                <a:spcPts val="800"/>
              </a:spcAft>
              <a:buNone/>
            </a:pPr>
            <a:r>
              <a:rPr lang="en-IN" sz="1000" b="1" dirty="0">
                <a:solidFill>
                  <a:srgbClr val="333333"/>
                </a:solidFill>
                <a:effectLst/>
                <a:latin typeface="Times New Roman" panose="02020603050405020304" pitchFamily="18" charset="0"/>
                <a:ea typeface="Calibri" panose="020F0502020204030204" pitchFamily="34" charset="0"/>
              </a:rPr>
              <a:t>Similarity Matching with FAISS:</a:t>
            </a:r>
          </a:p>
          <a:p>
            <a:pPr marL="0" marR="0">
              <a:lnSpc>
                <a:spcPct val="107000"/>
              </a:lnSpc>
              <a:spcAft>
                <a:spcPts val="800"/>
              </a:spcAft>
              <a:buNone/>
            </a:pPr>
            <a:r>
              <a:rPr lang="en-IN" sz="1000" b="0" dirty="0">
                <a:solidFill>
                  <a:srgbClr val="333333"/>
                </a:solidFill>
                <a:effectLst/>
                <a:latin typeface="Times New Roman" panose="02020603050405020304" pitchFamily="18" charset="0"/>
                <a:ea typeface="Calibri" panose="020F0502020204030204" pitchFamily="34" charset="0"/>
              </a:rPr>
              <a:t>Fast vector search engine for matching resumes to jobs.</a:t>
            </a:r>
            <a:endParaRPr lang="en-IN" sz="1000" b="1" dirty="0">
              <a:solidFill>
                <a:srgbClr val="333333"/>
              </a:solidFill>
              <a:effectLst/>
              <a:latin typeface="Times New Roman" panose="02020603050405020304" pitchFamily="18" charset="0"/>
              <a:ea typeface="Calibri" panose="020F0502020204030204" pitchFamily="34" charset="0"/>
            </a:endParaRPr>
          </a:p>
          <a:p>
            <a:pPr marL="0" marR="0">
              <a:lnSpc>
                <a:spcPct val="107000"/>
              </a:lnSpc>
              <a:spcAft>
                <a:spcPts val="800"/>
              </a:spcAft>
              <a:buNone/>
            </a:pPr>
            <a:r>
              <a:rPr lang="en-IN" sz="1000" b="0" dirty="0">
                <a:solidFill>
                  <a:srgbClr val="333333"/>
                </a:solidFill>
                <a:effectLst/>
                <a:latin typeface="Times New Roman" panose="02020603050405020304" pitchFamily="18" charset="0"/>
                <a:ea typeface="Calibri" panose="020F0502020204030204" pitchFamily="34" charset="0"/>
              </a:rPr>
              <a:t>Prioritizes semantic similarity over keyword matching.</a:t>
            </a:r>
            <a:endParaRPr lang="en-IN" sz="1000" b="1" dirty="0">
              <a:solidFill>
                <a:srgbClr val="333333"/>
              </a:solidFill>
              <a:effectLst/>
              <a:latin typeface="Times New Roman" panose="02020603050405020304" pitchFamily="18" charset="0"/>
              <a:ea typeface="Calibri" panose="020F0502020204030204" pitchFamily="34" charset="0"/>
            </a:endParaRPr>
          </a:p>
          <a:p>
            <a:pPr marL="0" marR="0">
              <a:lnSpc>
                <a:spcPct val="107000"/>
              </a:lnSpc>
              <a:spcAft>
                <a:spcPts val="800"/>
              </a:spcAft>
              <a:buNone/>
            </a:pPr>
            <a:r>
              <a:rPr lang="en-IN" sz="1000" b="1" dirty="0">
                <a:solidFill>
                  <a:srgbClr val="333333"/>
                </a:solidFill>
                <a:effectLst/>
                <a:latin typeface="Times New Roman" panose="02020603050405020304" pitchFamily="18" charset="0"/>
                <a:ea typeface="Calibri" panose="020F0502020204030204" pitchFamily="34" charset="0"/>
              </a:rPr>
              <a:t>Database Layer (CSV → PostgreSQL ready):</a:t>
            </a:r>
          </a:p>
          <a:p>
            <a:pPr marL="0" marR="0">
              <a:lnSpc>
                <a:spcPct val="107000"/>
              </a:lnSpc>
              <a:spcAft>
                <a:spcPts val="800"/>
              </a:spcAft>
              <a:buNone/>
            </a:pPr>
            <a:r>
              <a:rPr lang="en-IN" sz="1000" b="0" dirty="0">
                <a:solidFill>
                  <a:srgbClr val="333333"/>
                </a:solidFill>
                <a:effectLst/>
                <a:latin typeface="Times New Roman" panose="02020603050405020304" pitchFamily="18" charset="0"/>
                <a:ea typeface="Calibri" panose="020F0502020204030204" pitchFamily="34" charset="0"/>
              </a:rPr>
              <a:t>Stores resumes and job postings in structured format.</a:t>
            </a:r>
            <a:endParaRPr lang="en-IN" sz="1000" b="1" dirty="0">
              <a:solidFill>
                <a:srgbClr val="333333"/>
              </a:solidFill>
              <a:effectLst/>
              <a:latin typeface="Times New Roman" panose="02020603050405020304" pitchFamily="18" charset="0"/>
              <a:ea typeface="Calibri" panose="020F0502020204030204" pitchFamily="34" charset="0"/>
            </a:endParaRPr>
          </a:p>
          <a:p>
            <a:pPr marL="0" marR="0">
              <a:lnSpc>
                <a:spcPct val="107000"/>
              </a:lnSpc>
              <a:spcAft>
                <a:spcPts val="800"/>
              </a:spcAft>
              <a:buNone/>
            </a:pPr>
            <a:r>
              <a:rPr lang="en-IN" sz="1000" b="0" dirty="0">
                <a:solidFill>
                  <a:srgbClr val="333333"/>
                </a:solidFill>
                <a:effectLst/>
                <a:latin typeface="Times New Roman" panose="02020603050405020304" pitchFamily="18" charset="0"/>
                <a:ea typeface="Calibri" panose="020F0502020204030204" pitchFamily="34" charset="0"/>
              </a:rPr>
              <a:t>Current prototype uses CSV with Pandas, scalable to relational DB.</a:t>
            </a:r>
            <a:endParaRPr lang="en-IN" sz="1000" b="1" dirty="0">
              <a:solidFill>
                <a:srgbClr val="333333"/>
              </a:solidFill>
              <a:effectLst/>
              <a:latin typeface="Times New Roman" panose="02020603050405020304" pitchFamily="18" charset="0"/>
              <a:ea typeface="Calibri" panose="020F0502020204030204" pitchFamily="34" charset="0"/>
            </a:endParaRPr>
          </a:p>
          <a:p>
            <a:pPr marL="0" marR="0">
              <a:lnSpc>
                <a:spcPct val="107000"/>
              </a:lnSpc>
              <a:spcAft>
                <a:spcPts val="800"/>
              </a:spcAft>
              <a:buNone/>
            </a:pPr>
            <a:r>
              <a:rPr lang="en-IN" sz="1000" b="1" dirty="0">
                <a:solidFill>
                  <a:srgbClr val="333333"/>
                </a:solidFill>
                <a:effectLst/>
                <a:latin typeface="Times New Roman" panose="02020603050405020304" pitchFamily="18" charset="0"/>
                <a:ea typeface="Calibri" panose="020F0502020204030204" pitchFamily="34" charset="0"/>
              </a:rPr>
              <a:t>Data Flow:</a:t>
            </a:r>
          </a:p>
          <a:p>
            <a:pPr marL="0" marR="0">
              <a:lnSpc>
                <a:spcPct val="107000"/>
              </a:lnSpc>
              <a:spcAft>
                <a:spcPts val="800"/>
              </a:spcAft>
              <a:buNone/>
            </a:pPr>
            <a:r>
              <a:rPr lang="en-IN" sz="1000" b="0" dirty="0">
                <a:solidFill>
                  <a:srgbClr val="333333"/>
                </a:solidFill>
                <a:effectLst/>
                <a:latin typeface="Times New Roman" panose="02020603050405020304" pitchFamily="18" charset="0"/>
                <a:ea typeface="Calibri" panose="020F0502020204030204" pitchFamily="34" charset="0"/>
              </a:rPr>
              <a:t>User Input → API → AI Processing → FAISS Search → Results Displayed</a:t>
            </a:r>
            <a:endParaRPr lang="en-IN" sz="1000" b="1" dirty="0">
              <a:solidFill>
                <a:srgbClr val="333333"/>
              </a:solidFill>
              <a:effectLst/>
              <a:latin typeface="Times New Roman" panose="02020603050405020304" pitchFamily="18" charset="0"/>
              <a:ea typeface="Calibri" panose="020F0502020204030204" pitchFamily="34" charset="0"/>
            </a:endParaRPr>
          </a:p>
          <a:p>
            <a:pPr marL="0" marR="0">
              <a:lnSpc>
                <a:spcPct val="107000"/>
              </a:lnSpc>
              <a:spcAft>
                <a:spcPts val="800"/>
              </a:spcAft>
              <a:buNone/>
            </a:pPr>
            <a:r>
              <a:rPr lang="en-IN" sz="1000" b="0" dirty="0">
                <a:solidFill>
                  <a:srgbClr val="333333"/>
                </a:solidFill>
                <a:effectLst/>
                <a:latin typeface="Times New Roman" panose="02020603050405020304" pitchFamily="18" charset="0"/>
                <a:ea typeface="Calibri" panose="020F0502020204030204" pitchFamily="34" charset="0"/>
              </a:rPr>
              <a:t>Clear modular separation between frontend, backend, processing, and storage.</a:t>
            </a:r>
            <a:endParaRPr lang="en-IN" sz="1000" b="1" dirty="0">
              <a:solidFill>
                <a:srgbClr val="333333"/>
              </a:solidFill>
              <a:effectLst/>
              <a:latin typeface="Times New Roman" panose="02020603050405020304" pitchFamily="18" charset="0"/>
              <a:ea typeface="Calibri" panose="020F0502020204030204" pitchFamily="34" charset="0"/>
            </a:endParaRPr>
          </a:p>
          <a:p>
            <a:pPr marL="0" marR="0">
              <a:lnSpc>
                <a:spcPct val="107000"/>
              </a:lnSpc>
              <a:spcAft>
                <a:spcPts val="800"/>
              </a:spcAft>
              <a:buNone/>
            </a:pPr>
            <a:r>
              <a:rPr lang="en-IN" sz="1000" b="1" dirty="0">
                <a:solidFill>
                  <a:srgbClr val="333333"/>
                </a:solidFill>
                <a:effectLst/>
                <a:latin typeface="Times New Roman" panose="02020603050405020304" pitchFamily="18" charset="0"/>
                <a:ea typeface="Calibri" panose="020F0502020204030204" pitchFamily="34" charset="0"/>
              </a:rPr>
              <a:t>Scalability Ready:</a:t>
            </a:r>
          </a:p>
          <a:p>
            <a:pPr marL="0">
              <a:lnSpc>
                <a:spcPct val="107000"/>
              </a:lnSpc>
              <a:spcAft>
                <a:spcPts val="800"/>
              </a:spcAft>
              <a:buNone/>
            </a:pPr>
            <a:r>
              <a:rPr lang="en-IN" sz="1000" b="0" dirty="0">
                <a:solidFill>
                  <a:srgbClr val="333333"/>
                </a:solidFill>
                <a:effectLst/>
                <a:latin typeface="Times New Roman" panose="02020603050405020304" pitchFamily="18" charset="0"/>
                <a:ea typeface="Calibri" panose="020F0502020204030204" pitchFamily="34" charset="0"/>
              </a:rPr>
              <a:t>System designed to easily integrate: Resume file uploads (PDF/DOCX)</a:t>
            </a:r>
            <a:r>
              <a:rPr lang="en-IN" sz="1000" b="1" dirty="0">
                <a:solidFill>
                  <a:srgbClr val="333333"/>
                </a:solidFill>
                <a:latin typeface="Times New Roman" panose="02020603050405020304" pitchFamily="18" charset="0"/>
                <a:ea typeface="Calibri" panose="020F0502020204030204" pitchFamily="34" charset="0"/>
              </a:rPr>
              <a:t>, </a:t>
            </a:r>
            <a:r>
              <a:rPr lang="en-IN" sz="1000" b="0" dirty="0">
                <a:solidFill>
                  <a:srgbClr val="333333"/>
                </a:solidFill>
                <a:effectLst/>
                <a:latin typeface="Times New Roman" panose="02020603050405020304" pitchFamily="18" charset="0"/>
                <a:ea typeface="Calibri" panose="020F0502020204030204" pitchFamily="34" charset="0"/>
              </a:rPr>
              <a:t>GPT-based feedback, Live job listings via APIs, Recruiter dashboard</a:t>
            </a:r>
            <a:endParaRPr lang="en-IN" sz="1000" b="1" dirty="0">
              <a:solidFill>
                <a:srgbClr val="333333"/>
              </a:solidFill>
              <a:effectLst/>
              <a:latin typeface="Times New Roman" panose="02020603050405020304" pitchFamily="18" charset="0"/>
              <a:ea typeface="Calibri" panose="020F0502020204030204" pitchFamily="34" charset="0"/>
            </a:endParaRPr>
          </a:p>
          <a:p>
            <a:pPr marL="0" marR="0" indent="0">
              <a:lnSpc>
                <a:spcPct val="107000"/>
              </a:lnSpc>
              <a:spcAft>
                <a:spcPts val="800"/>
              </a:spcAft>
              <a:buNone/>
            </a:pPr>
            <a:r>
              <a:rPr lang="en-IN" sz="1000" b="0" dirty="0">
                <a:solidFill>
                  <a:srgbClr val="333333"/>
                </a:solidFill>
                <a:effectLst/>
                <a:latin typeface="Times New Roman" panose="02020603050405020304" pitchFamily="18" charset="0"/>
                <a:ea typeface="Calibri" panose="020F0502020204030204" pitchFamily="34" charset="0"/>
              </a:rPr>
              <a:t> </a:t>
            </a:r>
            <a:endParaRPr lang="en-IN" sz="1000" b="1" dirty="0">
              <a:solidFill>
                <a:srgbClr val="333333"/>
              </a:solidFill>
              <a:effectLst/>
              <a:latin typeface="Times New Roman" panose="02020603050405020304" pitchFamily="18" charset="0"/>
              <a:ea typeface="Calibri" panose="020F0502020204030204" pitchFamily="34" charset="0"/>
            </a:endParaRPr>
          </a:p>
        </p:txBody>
      </p:sp>
      <p:sp>
        <p:nvSpPr>
          <p:cNvPr id="99" name="Google Shape;99;g3557b111a15_0_1285"/>
          <p:cNvSpPr txBox="1">
            <a:spLocks noGrp="1"/>
          </p:cNvSpPr>
          <p:nvPr>
            <p:ph type="body" idx="2"/>
          </p:nvPr>
        </p:nvSpPr>
        <p:spPr>
          <a:xfrm>
            <a:off x="4832400" y="1536633"/>
            <a:ext cx="3999900" cy="4555200"/>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r>
              <a:rPr lang="en-US" dirty="0"/>
              <a:t>    </a:t>
            </a:r>
            <a:endParaRPr dirty="0"/>
          </a:p>
        </p:txBody>
      </p:sp>
      <p:pic>
        <p:nvPicPr>
          <p:cNvPr id="100" name="Google Shape;100;g3557b111a15_0_1285"/>
          <p:cNvPicPr preferRelativeResize="0"/>
          <p:nvPr/>
        </p:nvPicPr>
        <p:blipFill>
          <a:blip r:embed="rId3">
            <a:alphaModFix/>
          </a:blip>
          <a:stretch>
            <a:fillRect/>
          </a:stretch>
        </p:blipFill>
        <p:spPr>
          <a:xfrm>
            <a:off x="4275667" y="677334"/>
            <a:ext cx="4651517" cy="541450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1" name="Google Shape;91;p4"/>
          <p:cNvSpPr txBox="1">
            <a:spLocks noGrp="1"/>
          </p:cNvSpPr>
          <p:nvPr>
            <p:ph type="title"/>
          </p:nvPr>
        </p:nvSpPr>
        <p:spPr>
          <a:xfrm>
            <a:off x="457200" y="274680"/>
            <a:ext cx="8229240" cy="114264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1"/>
              </a:buClr>
              <a:buSzPts val="4400"/>
              <a:buFont typeface="Calibri"/>
              <a:buNone/>
            </a:pPr>
            <a:r>
              <a:rPr lang="en-US" sz="4400" b="1" strike="noStrike" dirty="0">
                <a:solidFill>
                  <a:schemeClr val="dk1"/>
                </a:solidFill>
              </a:rPr>
              <a:t>Datasets Used</a:t>
            </a:r>
            <a:endParaRPr sz="4400" b="1" strike="noStrike" dirty="0">
              <a:solidFill>
                <a:schemeClr val="dk1"/>
              </a:solidFill>
            </a:endParaRPr>
          </a:p>
        </p:txBody>
      </p:sp>
      <p:sp>
        <p:nvSpPr>
          <p:cNvPr id="92" name="Google Shape;92;p4"/>
          <p:cNvSpPr txBox="1">
            <a:spLocks noGrp="1"/>
          </p:cNvSpPr>
          <p:nvPr>
            <p:ph type="body" idx="1"/>
          </p:nvPr>
        </p:nvSpPr>
        <p:spPr>
          <a:xfrm>
            <a:off x="457200" y="1600200"/>
            <a:ext cx="8229240" cy="4525560"/>
          </a:xfrm>
          <a:prstGeom prst="rect">
            <a:avLst/>
          </a:prstGeom>
          <a:noFill/>
          <a:ln>
            <a:noFill/>
          </a:ln>
        </p:spPr>
        <p:txBody>
          <a:bodyPr spcFirstLastPara="1" wrap="square" lIns="91425" tIns="45700" rIns="91425" bIns="45700" anchor="t" anchorCtr="0">
            <a:noAutofit/>
          </a:bodyPr>
          <a:lstStyle/>
          <a:p>
            <a:pPr>
              <a:buNone/>
            </a:pPr>
            <a:r>
              <a:rPr lang="en-US" sz="2000" dirty="0">
                <a:solidFill>
                  <a:schemeClr val="tx1"/>
                </a:solidFill>
              </a:rPr>
              <a:t>To simulate real-world conditions, we used two datasets:</a:t>
            </a:r>
          </a:p>
          <a:p>
            <a:pPr marL="571500" indent="-342900">
              <a:buFont typeface="Arial" panose="020B0604020202020204" pitchFamily="34" charset="0"/>
              <a:buChar char="•"/>
            </a:pPr>
            <a:r>
              <a:rPr lang="en-US" sz="2000" dirty="0">
                <a:solidFill>
                  <a:schemeClr val="tx1"/>
                </a:solidFill>
              </a:rPr>
              <a:t>A </a:t>
            </a:r>
            <a:r>
              <a:rPr lang="en-US" sz="2000" b="1" dirty="0">
                <a:solidFill>
                  <a:schemeClr val="tx1"/>
                </a:solidFill>
              </a:rPr>
              <a:t>LinkedIn Job Postings</a:t>
            </a:r>
            <a:r>
              <a:rPr lang="en-US" sz="2000" dirty="0">
                <a:solidFill>
                  <a:schemeClr val="tx1"/>
                </a:solidFill>
              </a:rPr>
              <a:t> dataset from Kaggle, with thousands of real job descriptions.</a:t>
            </a:r>
          </a:p>
          <a:p>
            <a:pPr marL="571500" indent="-342900">
              <a:buFont typeface="Arial" panose="020B0604020202020204" pitchFamily="34" charset="0"/>
              <a:buChar char="•"/>
            </a:pPr>
            <a:r>
              <a:rPr lang="en-US" sz="2000" dirty="0">
                <a:solidFill>
                  <a:schemeClr val="tx1"/>
                </a:solidFill>
              </a:rPr>
              <a:t>An </a:t>
            </a:r>
            <a:r>
              <a:rPr lang="en-US" sz="2000" b="1" dirty="0">
                <a:solidFill>
                  <a:schemeClr val="tx1"/>
                </a:solidFill>
              </a:rPr>
              <a:t>updated Resume Dataset</a:t>
            </a:r>
            <a:r>
              <a:rPr lang="en-US" sz="2000" dirty="0">
                <a:solidFill>
                  <a:schemeClr val="tx1"/>
                </a:solidFill>
              </a:rPr>
              <a:t>, with text resumes across industries and experience levels.</a:t>
            </a:r>
          </a:p>
          <a:p>
            <a:r>
              <a:rPr lang="en-US" sz="2000" dirty="0">
                <a:solidFill>
                  <a:schemeClr val="tx1"/>
                </a:solidFill>
              </a:rPr>
              <a:t>These were cleaned thoroughly, removing personal details, filling nulls, standardizing formats to create high-quality input for our models.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17"/>
        <p:cNvGrpSpPr/>
        <p:nvPr/>
      </p:nvGrpSpPr>
      <p:grpSpPr>
        <a:xfrm>
          <a:off x="0" y="0"/>
          <a:ext cx="0" cy="0"/>
          <a:chOff x="0" y="0"/>
          <a:chExt cx="0" cy="0"/>
        </a:xfrm>
      </p:grpSpPr>
      <p:sp>
        <p:nvSpPr>
          <p:cNvPr id="118" name="Google Shape;118;g3558314b03f_0_0"/>
          <p:cNvSpPr txBox="1">
            <a:spLocks noGrp="1"/>
          </p:cNvSpPr>
          <p:nvPr>
            <p:ph type="title"/>
          </p:nvPr>
        </p:nvSpPr>
        <p:spPr>
          <a:xfrm>
            <a:off x="334651" y="86144"/>
            <a:ext cx="8229300" cy="1142700"/>
          </a:xfrm>
          <a:prstGeom prst="rect">
            <a:avLst/>
          </a:prstGeom>
        </p:spPr>
        <p:txBody>
          <a:bodyPr spcFirstLastPara="1" wrap="square" lIns="0" tIns="0" rIns="0" bIns="0" anchor="ctr" anchorCtr="0">
            <a:noAutofit/>
          </a:bodyPr>
          <a:lstStyle/>
          <a:p>
            <a:pPr algn="ctr">
              <a:buNone/>
            </a:pPr>
            <a:r>
              <a:rPr lang="en-US" sz="2800" b="1" dirty="0">
                <a:solidFill>
                  <a:schemeClr val="tx1"/>
                </a:solidFill>
              </a:rPr>
              <a:t>NLP Preprocessing</a:t>
            </a:r>
            <a:endParaRPr lang="en-US" sz="2800" dirty="0">
              <a:solidFill>
                <a:schemeClr val="tx1"/>
              </a:solidFill>
            </a:endParaRPr>
          </a:p>
        </p:txBody>
      </p:sp>
      <p:sp>
        <p:nvSpPr>
          <p:cNvPr id="119" name="Google Shape;119;g3558314b03f_0_0"/>
          <p:cNvSpPr txBox="1">
            <a:spLocks noGrp="1"/>
          </p:cNvSpPr>
          <p:nvPr>
            <p:ph type="body" idx="1"/>
          </p:nvPr>
        </p:nvSpPr>
        <p:spPr>
          <a:xfrm>
            <a:off x="457350" y="1540933"/>
            <a:ext cx="8229300" cy="4056866"/>
          </a:xfrm>
          <a:prstGeom prst="rect">
            <a:avLst/>
          </a:prstGeom>
        </p:spPr>
        <p:txBody>
          <a:bodyPr spcFirstLastPara="1" wrap="square" lIns="0" tIns="0" rIns="0" bIns="0" anchor="t" anchorCtr="0">
            <a:noAutofit/>
          </a:bodyPr>
          <a:lstStyle/>
          <a:p>
            <a:pPr>
              <a:buNone/>
            </a:pPr>
            <a:r>
              <a:rPr lang="en-US" sz="1400" dirty="0">
                <a:solidFill>
                  <a:schemeClr val="tx1"/>
                </a:solidFill>
              </a:rPr>
              <a:t>NLP preprocessing was key for quality results.</a:t>
            </a:r>
          </a:p>
          <a:p>
            <a:pPr>
              <a:buNone/>
            </a:pPr>
            <a:r>
              <a:rPr lang="en-US" sz="1400" dirty="0">
                <a:solidFill>
                  <a:schemeClr val="tx1"/>
                </a:solidFill>
              </a:rPr>
              <a:t>We applied the following steps:</a:t>
            </a:r>
          </a:p>
          <a:p>
            <a:pPr>
              <a:buFont typeface="Arial" panose="020B0604020202020204" pitchFamily="34" charset="0"/>
              <a:buChar char="•"/>
            </a:pPr>
            <a:r>
              <a:rPr lang="en-US" sz="1400" b="1" dirty="0">
                <a:solidFill>
                  <a:schemeClr val="tx1"/>
                </a:solidFill>
              </a:rPr>
              <a:t>Lowercasing</a:t>
            </a:r>
            <a:r>
              <a:rPr lang="en-US" sz="1400" dirty="0">
                <a:solidFill>
                  <a:schemeClr val="tx1"/>
                </a:solidFill>
              </a:rPr>
              <a:t> to normalize text,</a:t>
            </a:r>
          </a:p>
          <a:p>
            <a:pPr>
              <a:buFont typeface="Arial" panose="020B0604020202020204" pitchFamily="34" charset="0"/>
              <a:buChar char="•"/>
            </a:pPr>
            <a:r>
              <a:rPr lang="en-US" sz="1400" b="1" dirty="0">
                <a:solidFill>
                  <a:schemeClr val="tx1"/>
                </a:solidFill>
              </a:rPr>
              <a:t>Removing special characters</a:t>
            </a:r>
            <a:r>
              <a:rPr lang="en-US" sz="1400" dirty="0">
                <a:solidFill>
                  <a:schemeClr val="tx1"/>
                </a:solidFill>
              </a:rPr>
              <a:t> and whitespace,</a:t>
            </a:r>
          </a:p>
          <a:p>
            <a:pPr>
              <a:buFont typeface="Arial" panose="020B0604020202020204" pitchFamily="34" charset="0"/>
              <a:buChar char="•"/>
            </a:pPr>
            <a:r>
              <a:rPr lang="en-US" sz="1400" b="1" dirty="0">
                <a:solidFill>
                  <a:schemeClr val="tx1"/>
                </a:solidFill>
              </a:rPr>
              <a:t>Tokenization</a:t>
            </a:r>
            <a:r>
              <a:rPr lang="en-US" sz="1400" dirty="0">
                <a:solidFill>
                  <a:schemeClr val="tx1"/>
                </a:solidFill>
              </a:rPr>
              <a:t> with NLTK,</a:t>
            </a:r>
          </a:p>
          <a:p>
            <a:pPr>
              <a:buFont typeface="Arial" panose="020B0604020202020204" pitchFamily="34" charset="0"/>
              <a:buChar char="•"/>
            </a:pPr>
            <a:r>
              <a:rPr lang="en-US" sz="1400" b="1" dirty="0">
                <a:solidFill>
                  <a:schemeClr val="tx1"/>
                </a:solidFill>
              </a:rPr>
              <a:t>Stopword removal</a:t>
            </a:r>
            <a:r>
              <a:rPr lang="en-US" sz="1400" dirty="0">
                <a:solidFill>
                  <a:schemeClr val="tx1"/>
                </a:solidFill>
              </a:rPr>
              <a:t> to remove filler words like ‘the’ or ‘is’,</a:t>
            </a:r>
          </a:p>
          <a:p>
            <a:pPr>
              <a:buFont typeface="Arial" panose="020B0604020202020204" pitchFamily="34" charset="0"/>
              <a:buChar char="•"/>
            </a:pPr>
            <a:r>
              <a:rPr lang="en-US" sz="1400" b="1" dirty="0">
                <a:solidFill>
                  <a:schemeClr val="tx1"/>
                </a:solidFill>
              </a:rPr>
              <a:t>Lemmatization</a:t>
            </a:r>
            <a:r>
              <a:rPr lang="en-US" sz="1400" dirty="0">
                <a:solidFill>
                  <a:schemeClr val="tx1"/>
                </a:solidFill>
              </a:rPr>
              <a:t> to unify word forms (like ‘running’ and ‘run’),</a:t>
            </a:r>
          </a:p>
          <a:p>
            <a:pPr>
              <a:buFont typeface="Arial" panose="020B0604020202020204" pitchFamily="34" charset="0"/>
              <a:buChar char="•"/>
            </a:pPr>
            <a:r>
              <a:rPr lang="en-US" sz="1400" b="1" dirty="0">
                <a:solidFill>
                  <a:schemeClr val="tx1"/>
                </a:solidFill>
              </a:rPr>
              <a:t>Named Entity Recognition</a:t>
            </a:r>
            <a:r>
              <a:rPr lang="en-US" sz="1400" dirty="0">
                <a:solidFill>
                  <a:schemeClr val="tx1"/>
                </a:solidFill>
              </a:rPr>
              <a:t> to extract skills, tools, and roles.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E55C84-EE3B-96F7-6E98-BA7FA081A282}"/>
              </a:ext>
            </a:extLst>
          </p:cNvPr>
          <p:cNvSpPr>
            <a:spLocks noGrp="1"/>
          </p:cNvSpPr>
          <p:nvPr>
            <p:ph type="title"/>
          </p:nvPr>
        </p:nvSpPr>
        <p:spPr/>
        <p:txBody>
          <a:bodyPr/>
          <a:lstStyle/>
          <a:p>
            <a:br>
              <a:rPr lang="en-IN" sz="2800" b="1" dirty="0">
                <a:solidFill>
                  <a:schemeClr val="tx1"/>
                </a:solidFill>
                <a:effectLst/>
                <a:latin typeface="Times New Roman" panose="02020603050405020304" pitchFamily="18" charset="0"/>
                <a:ea typeface="Calibri" panose="020F0502020204030204" pitchFamily="34" charset="0"/>
              </a:rPr>
            </a:br>
            <a:r>
              <a:rPr lang="en-IN" sz="2800" b="1" dirty="0">
                <a:solidFill>
                  <a:schemeClr val="tx1"/>
                </a:solidFill>
                <a:effectLst/>
                <a:latin typeface="Times New Roman" panose="02020603050405020304" pitchFamily="18" charset="0"/>
                <a:ea typeface="Calibri" panose="020F0502020204030204" pitchFamily="34" charset="0"/>
              </a:rPr>
              <a:t>Semantic Embedding with Sentence Transformer</a:t>
            </a:r>
            <a:br>
              <a:rPr lang="en-IN" sz="2800" b="1" dirty="0">
                <a:solidFill>
                  <a:schemeClr val="tx1"/>
                </a:solidFill>
                <a:effectLst/>
                <a:latin typeface="Times New Roman" panose="02020603050405020304" pitchFamily="18" charset="0"/>
                <a:ea typeface="Calibri" panose="020F0502020204030204" pitchFamily="34" charset="0"/>
              </a:rPr>
            </a:br>
            <a:endParaRPr lang="en-IN" b="1" dirty="0">
              <a:solidFill>
                <a:schemeClr val="tx1"/>
              </a:solidFill>
            </a:endParaRPr>
          </a:p>
        </p:txBody>
      </p:sp>
      <p:sp>
        <p:nvSpPr>
          <p:cNvPr id="3" name="Text Placeholder 2">
            <a:extLst>
              <a:ext uri="{FF2B5EF4-FFF2-40B4-BE49-F238E27FC236}">
                <a16:creationId xmlns:a16="http://schemas.microsoft.com/office/drawing/2014/main" id="{6E4A2718-5444-7AC9-15E6-666B8012625B}"/>
              </a:ext>
            </a:extLst>
          </p:cNvPr>
          <p:cNvSpPr>
            <a:spLocks noGrp="1"/>
          </p:cNvSpPr>
          <p:nvPr>
            <p:ph type="body" idx="1"/>
          </p:nvPr>
        </p:nvSpPr>
        <p:spPr/>
        <p:txBody>
          <a:bodyPr/>
          <a:lstStyle/>
          <a:p>
            <a:pPr marL="57150" marR="0" indent="-285750">
              <a:lnSpc>
                <a:spcPct val="107000"/>
              </a:lnSpc>
              <a:spcAft>
                <a:spcPts val="800"/>
              </a:spcAft>
              <a:buFont typeface="Arial" panose="020B0604020202020204" pitchFamily="34" charset="0"/>
              <a:buChar char="•"/>
            </a:pPr>
            <a:r>
              <a:rPr lang="en-IN" sz="1800" dirty="0">
                <a:solidFill>
                  <a:schemeClr val="tx1"/>
                </a:solidFill>
                <a:effectLst/>
                <a:latin typeface="Times New Roman" panose="02020603050405020304" pitchFamily="18" charset="0"/>
                <a:ea typeface="Calibri" panose="020F0502020204030204" pitchFamily="34" charset="0"/>
              </a:rPr>
              <a:t>To go beyond keywords, we used the all-MiniLM-L6-v2 model from Sentence-Transformers.</a:t>
            </a:r>
          </a:p>
          <a:p>
            <a:pPr marL="57150" marR="0" indent="-285750">
              <a:lnSpc>
                <a:spcPct val="107000"/>
              </a:lnSpc>
              <a:spcAft>
                <a:spcPts val="800"/>
              </a:spcAft>
              <a:buFont typeface="Arial" panose="020B0604020202020204" pitchFamily="34" charset="0"/>
              <a:buChar char="•"/>
            </a:pPr>
            <a:r>
              <a:rPr lang="en-IN" sz="1800" dirty="0">
                <a:solidFill>
                  <a:schemeClr val="tx1"/>
                </a:solidFill>
                <a:effectLst/>
                <a:latin typeface="Times New Roman" panose="02020603050405020304" pitchFamily="18" charset="0"/>
                <a:ea typeface="Calibri" panose="020F0502020204030204" pitchFamily="34" charset="0"/>
              </a:rPr>
              <a:t>It converts both resumes and job descriptions into dense vector embeddings, numerical representations of their meaning.</a:t>
            </a:r>
          </a:p>
          <a:p>
            <a:pPr marL="57150" marR="0" indent="-285750">
              <a:lnSpc>
                <a:spcPct val="107000"/>
              </a:lnSpc>
              <a:spcAft>
                <a:spcPts val="800"/>
              </a:spcAft>
              <a:buFont typeface="Arial" panose="020B0604020202020204" pitchFamily="34" charset="0"/>
              <a:buChar char="•"/>
            </a:pPr>
            <a:r>
              <a:rPr lang="en-IN" sz="1800" dirty="0">
                <a:solidFill>
                  <a:schemeClr val="tx1"/>
                </a:solidFill>
                <a:effectLst/>
                <a:latin typeface="Times New Roman" panose="02020603050405020304" pitchFamily="18" charset="0"/>
                <a:ea typeface="Calibri" panose="020F0502020204030204" pitchFamily="34" charset="0"/>
              </a:rPr>
              <a:t>So even if a resume says </a:t>
            </a:r>
            <a:r>
              <a:rPr lang="en-IN" sz="1800" i="1" dirty="0">
                <a:solidFill>
                  <a:schemeClr val="tx1"/>
                </a:solidFill>
                <a:effectLst/>
                <a:latin typeface="Times New Roman" panose="02020603050405020304" pitchFamily="18" charset="0"/>
                <a:ea typeface="Calibri" panose="020F0502020204030204" pitchFamily="34" charset="0"/>
              </a:rPr>
              <a:t>‘built RESTful APIs’</a:t>
            </a:r>
            <a:r>
              <a:rPr lang="en-IN" sz="1800" dirty="0">
                <a:solidFill>
                  <a:schemeClr val="tx1"/>
                </a:solidFill>
                <a:effectLst/>
                <a:latin typeface="Times New Roman" panose="02020603050405020304" pitchFamily="18" charset="0"/>
                <a:ea typeface="Calibri" panose="020F0502020204030204" pitchFamily="34" charset="0"/>
              </a:rPr>
              <a:t> and the job says </a:t>
            </a:r>
            <a:r>
              <a:rPr lang="en-IN" sz="1800" i="1" dirty="0">
                <a:solidFill>
                  <a:schemeClr val="tx1"/>
                </a:solidFill>
                <a:effectLst/>
                <a:latin typeface="Times New Roman" panose="02020603050405020304" pitchFamily="18" charset="0"/>
                <a:ea typeface="Calibri" panose="020F0502020204030204" pitchFamily="34" charset="0"/>
              </a:rPr>
              <a:t>‘backend services with Flask’</a:t>
            </a:r>
            <a:r>
              <a:rPr lang="en-IN" sz="1800" dirty="0">
                <a:solidFill>
                  <a:schemeClr val="tx1"/>
                </a:solidFill>
                <a:effectLst/>
                <a:latin typeface="Times New Roman" panose="02020603050405020304" pitchFamily="18" charset="0"/>
                <a:ea typeface="Calibri" panose="020F0502020204030204" pitchFamily="34" charset="0"/>
              </a:rPr>
              <a:t>, the model can connect the dots.</a:t>
            </a:r>
          </a:p>
          <a:p>
            <a:pPr marL="0" marR="0">
              <a:lnSpc>
                <a:spcPct val="107000"/>
              </a:lnSpc>
              <a:spcAft>
                <a:spcPts val="800"/>
              </a:spcAft>
            </a:pPr>
            <a:r>
              <a:rPr lang="en-IN" sz="1800" dirty="0">
                <a:solidFill>
                  <a:schemeClr val="tx1"/>
                </a:solidFill>
                <a:effectLst/>
                <a:latin typeface="Times New Roman" panose="02020603050405020304" pitchFamily="18" charset="0"/>
                <a:ea typeface="Calibri" panose="020F0502020204030204" pitchFamily="34" charset="0"/>
              </a:rPr>
              <a:t> </a:t>
            </a:r>
          </a:p>
          <a:p>
            <a:endParaRPr lang="en-IN" dirty="0">
              <a:solidFill>
                <a:schemeClr val="tx1"/>
              </a:solidFill>
            </a:endParaRPr>
          </a:p>
        </p:txBody>
      </p:sp>
    </p:spTree>
    <p:extLst>
      <p:ext uri="{BB962C8B-B14F-4D97-AF65-F5344CB8AC3E}">
        <p14:creationId xmlns:p14="http://schemas.microsoft.com/office/powerpoint/2010/main" val="198705979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34066E-B294-D17F-7A70-BA03B873D394}"/>
              </a:ext>
            </a:extLst>
          </p:cNvPr>
          <p:cNvSpPr>
            <a:spLocks noGrp="1"/>
          </p:cNvSpPr>
          <p:nvPr>
            <p:ph type="title"/>
          </p:nvPr>
        </p:nvSpPr>
        <p:spPr/>
        <p:txBody>
          <a:bodyPr/>
          <a:lstStyle/>
          <a:p>
            <a:r>
              <a:rPr lang="en-US" b="1" dirty="0">
                <a:solidFill>
                  <a:schemeClr val="tx1"/>
                </a:solidFill>
              </a:rPr>
              <a:t>Fast Matching with FAISS</a:t>
            </a:r>
            <a:br>
              <a:rPr lang="en-US" dirty="0">
                <a:solidFill>
                  <a:schemeClr val="tx1"/>
                </a:solidFill>
              </a:rPr>
            </a:br>
            <a:endParaRPr lang="en-IN" dirty="0"/>
          </a:p>
        </p:txBody>
      </p:sp>
      <p:sp>
        <p:nvSpPr>
          <p:cNvPr id="3" name="Text Placeholder 2">
            <a:extLst>
              <a:ext uri="{FF2B5EF4-FFF2-40B4-BE49-F238E27FC236}">
                <a16:creationId xmlns:a16="http://schemas.microsoft.com/office/drawing/2014/main" id="{56400A95-28EF-B867-1955-B002E8E8197C}"/>
              </a:ext>
            </a:extLst>
          </p:cNvPr>
          <p:cNvSpPr>
            <a:spLocks noGrp="1"/>
          </p:cNvSpPr>
          <p:nvPr>
            <p:ph type="body" idx="1"/>
          </p:nvPr>
        </p:nvSpPr>
        <p:spPr/>
        <p:txBody>
          <a:bodyPr/>
          <a:lstStyle/>
          <a:p>
            <a:pPr marL="514350" indent="-285750">
              <a:buFont typeface="Arial" panose="020B0604020202020204" pitchFamily="34" charset="0"/>
              <a:buChar char="•"/>
            </a:pPr>
            <a:r>
              <a:rPr lang="en-US" dirty="0">
                <a:solidFill>
                  <a:schemeClr val="tx1"/>
                </a:solidFill>
              </a:rPr>
              <a:t>Once we have vectors, we use </a:t>
            </a:r>
            <a:r>
              <a:rPr lang="en-US" b="1" dirty="0">
                <a:solidFill>
                  <a:schemeClr val="tx1"/>
                </a:solidFill>
              </a:rPr>
              <a:t>FAISS (Facebook AI Similarity Search)</a:t>
            </a:r>
            <a:r>
              <a:rPr lang="en-US" dirty="0">
                <a:solidFill>
                  <a:schemeClr val="tx1"/>
                </a:solidFill>
              </a:rPr>
              <a:t> for efficient matching.</a:t>
            </a:r>
          </a:p>
          <a:p>
            <a:pPr marL="514350" indent="-285750">
              <a:buFont typeface="Arial" panose="020B0604020202020204" pitchFamily="34" charset="0"/>
              <a:buChar char="•"/>
            </a:pPr>
            <a:r>
              <a:rPr lang="en-US" dirty="0">
                <a:solidFill>
                  <a:schemeClr val="tx1"/>
                </a:solidFill>
              </a:rPr>
              <a:t>It compares the resume vector against thousands of job vectors in real-time, returning the most similar results. </a:t>
            </a:r>
          </a:p>
          <a:p>
            <a:pPr marL="514350" indent="-285750">
              <a:buFont typeface="Arial" panose="020B0604020202020204" pitchFamily="34" charset="0"/>
              <a:buChar char="•"/>
            </a:pPr>
            <a:r>
              <a:rPr lang="en-US" dirty="0">
                <a:solidFill>
                  <a:schemeClr val="tx1"/>
                </a:solidFill>
              </a:rPr>
              <a:t>This gives us both </a:t>
            </a:r>
            <a:r>
              <a:rPr lang="en-US" b="1" dirty="0">
                <a:solidFill>
                  <a:schemeClr val="tx1"/>
                </a:solidFill>
              </a:rPr>
              <a:t>speed</a:t>
            </a:r>
            <a:r>
              <a:rPr lang="en-US" dirty="0">
                <a:solidFill>
                  <a:schemeClr val="tx1"/>
                </a:solidFill>
              </a:rPr>
              <a:t> and </a:t>
            </a:r>
            <a:r>
              <a:rPr lang="en-US" b="1" dirty="0">
                <a:solidFill>
                  <a:schemeClr val="tx1"/>
                </a:solidFill>
              </a:rPr>
              <a:t>accuracy</a:t>
            </a:r>
            <a:r>
              <a:rPr lang="en-US" dirty="0">
                <a:solidFill>
                  <a:schemeClr val="tx1"/>
                </a:solidFill>
              </a:rPr>
              <a:t>, making the system suitable for large-scale use.</a:t>
            </a:r>
          </a:p>
          <a:p>
            <a:endParaRPr lang="en-IN" dirty="0">
              <a:solidFill>
                <a:schemeClr val="tx1"/>
              </a:solidFill>
            </a:endParaRPr>
          </a:p>
        </p:txBody>
      </p:sp>
    </p:spTree>
    <p:extLst>
      <p:ext uri="{BB962C8B-B14F-4D97-AF65-F5344CB8AC3E}">
        <p14:creationId xmlns:p14="http://schemas.microsoft.com/office/powerpoint/2010/main" val="250450122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04"/>
        <p:cNvGrpSpPr/>
        <p:nvPr/>
      </p:nvGrpSpPr>
      <p:grpSpPr>
        <a:xfrm>
          <a:off x="0" y="0"/>
          <a:ext cx="0" cy="0"/>
          <a:chOff x="0" y="0"/>
          <a:chExt cx="0" cy="0"/>
        </a:xfrm>
      </p:grpSpPr>
      <p:sp>
        <p:nvSpPr>
          <p:cNvPr id="105" name="Google Shape;105;g3557b111a15_0_1214"/>
          <p:cNvSpPr txBox="1">
            <a:spLocks noGrp="1"/>
          </p:cNvSpPr>
          <p:nvPr>
            <p:ph type="title"/>
          </p:nvPr>
        </p:nvSpPr>
        <p:spPr>
          <a:xfrm>
            <a:off x="457200" y="274680"/>
            <a:ext cx="8229300" cy="1142700"/>
          </a:xfrm>
          <a:prstGeom prst="rect">
            <a:avLst/>
          </a:prstGeom>
        </p:spPr>
        <p:txBody>
          <a:bodyPr spcFirstLastPara="1" wrap="square" lIns="0" tIns="0" rIns="0" bIns="0" anchor="ctr" anchorCtr="0">
            <a:noAutofit/>
          </a:bodyPr>
          <a:lstStyle/>
          <a:p>
            <a:pPr marL="0" lvl="0" indent="0" algn="ctr" rtl="0">
              <a:lnSpc>
                <a:spcPct val="115000"/>
              </a:lnSpc>
              <a:spcBef>
                <a:spcPts val="1400"/>
              </a:spcBef>
              <a:spcAft>
                <a:spcPts val="400"/>
              </a:spcAft>
              <a:buClr>
                <a:schemeClr val="dk1"/>
              </a:buClr>
              <a:buSzPts val="1100"/>
              <a:buFont typeface="Arial"/>
              <a:buNone/>
            </a:pPr>
            <a:r>
              <a:rPr lang="en-US" sz="3000" b="1" dirty="0"/>
              <a:t>Technologies Used</a:t>
            </a:r>
            <a:endParaRPr sz="4500" dirty="0"/>
          </a:p>
        </p:txBody>
      </p:sp>
      <p:sp>
        <p:nvSpPr>
          <p:cNvPr id="106" name="Google Shape;106;g3557b111a15_0_1214"/>
          <p:cNvSpPr txBox="1">
            <a:spLocks noGrp="1"/>
          </p:cNvSpPr>
          <p:nvPr>
            <p:ph type="body" idx="1"/>
          </p:nvPr>
        </p:nvSpPr>
        <p:spPr>
          <a:xfrm>
            <a:off x="457200" y="1600200"/>
            <a:ext cx="8229300" cy="4525500"/>
          </a:xfrm>
          <a:prstGeom prst="rect">
            <a:avLst/>
          </a:prstGeom>
        </p:spPr>
        <p:txBody>
          <a:bodyPr spcFirstLastPara="1" wrap="square" lIns="0" tIns="0" rIns="0" bIns="0" anchor="t" anchorCtr="0">
            <a:noAutofit/>
          </a:bodyPr>
          <a:lstStyle/>
          <a:p>
            <a:pPr marL="0" marR="0">
              <a:lnSpc>
                <a:spcPct val="107000"/>
              </a:lnSpc>
              <a:spcAft>
                <a:spcPts val="800"/>
              </a:spcAft>
              <a:buNone/>
            </a:pPr>
            <a:r>
              <a:rPr lang="en-IN" sz="1400" b="0" dirty="0">
                <a:solidFill>
                  <a:srgbClr val="333333"/>
                </a:solidFill>
                <a:effectLst/>
                <a:latin typeface="Times New Roman" panose="02020603050405020304" pitchFamily="18" charset="0"/>
                <a:ea typeface="Calibri" panose="020F0502020204030204" pitchFamily="34" charset="0"/>
              </a:rPr>
              <a:t>NLP &amp; AI</a:t>
            </a:r>
            <a:endParaRPr lang="en-IN" sz="1400" b="1" dirty="0">
              <a:solidFill>
                <a:srgbClr val="333333"/>
              </a:solidFill>
              <a:effectLst/>
              <a:latin typeface="Times New Roman" panose="02020603050405020304" pitchFamily="18" charset="0"/>
              <a:ea typeface="Calibri" panose="020F0502020204030204" pitchFamily="34" charset="0"/>
            </a:endParaRPr>
          </a:p>
          <a:p>
            <a:pPr marL="342900" marR="0" lvl="0" indent="-342900">
              <a:lnSpc>
                <a:spcPct val="107000"/>
              </a:lnSpc>
              <a:spcAft>
                <a:spcPts val="800"/>
              </a:spcAft>
              <a:buSzPts val="1000"/>
              <a:buFont typeface="Symbol" panose="05050102010706020507" pitchFamily="18" charset="2"/>
              <a:buChar char=""/>
              <a:tabLst>
                <a:tab pos="457200" algn="l"/>
              </a:tabLst>
            </a:pPr>
            <a:r>
              <a:rPr lang="en-IN" sz="1400" b="0" dirty="0">
                <a:solidFill>
                  <a:srgbClr val="333333"/>
                </a:solidFill>
                <a:effectLst/>
                <a:latin typeface="Times New Roman" panose="02020603050405020304" pitchFamily="18" charset="0"/>
                <a:ea typeface="Calibri" panose="020F0502020204030204" pitchFamily="34" charset="0"/>
              </a:rPr>
              <a:t>SentenceTransformers (MiniLM-L6-v2) – Semantic embeddings</a:t>
            </a:r>
            <a:endParaRPr lang="en-IN" sz="1400" b="1" dirty="0">
              <a:solidFill>
                <a:srgbClr val="333333"/>
              </a:solidFill>
              <a:effectLst/>
              <a:latin typeface="Times New Roman" panose="02020603050405020304" pitchFamily="18" charset="0"/>
              <a:ea typeface="Calibri" panose="020F0502020204030204" pitchFamily="34" charset="0"/>
            </a:endParaRPr>
          </a:p>
          <a:p>
            <a:pPr marL="342900" marR="0" lvl="0" indent="-342900">
              <a:lnSpc>
                <a:spcPct val="107000"/>
              </a:lnSpc>
              <a:spcAft>
                <a:spcPts val="800"/>
              </a:spcAft>
              <a:buSzPts val="1000"/>
              <a:buFont typeface="Symbol" panose="05050102010706020507" pitchFamily="18" charset="2"/>
              <a:buChar char=""/>
              <a:tabLst>
                <a:tab pos="457200" algn="l"/>
              </a:tabLst>
            </a:pPr>
            <a:r>
              <a:rPr lang="en-IN" sz="1400" b="0" dirty="0">
                <a:solidFill>
                  <a:srgbClr val="333333"/>
                </a:solidFill>
                <a:effectLst/>
                <a:latin typeface="Times New Roman" panose="02020603050405020304" pitchFamily="18" charset="0"/>
                <a:ea typeface="Calibri" panose="020F0502020204030204" pitchFamily="34" charset="0"/>
              </a:rPr>
              <a:t>spaCy, NLTK – Text preprocessing (NER, lemmatization, tokenization)</a:t>
            </a:r>
            <a:endParaRPr lang="en-IN" sz="1400" b="1" dirty="0">
              <a:solidFill>
                <a:srgbClr val="333333"/>
              </a:solidFill>
              <a:effectLst/>
              <a:latin typeface="Times New Roman" panose="02020603050405020304" pitchFamily="18" charset="0"/>
              <a:ea typeface="Calibri" panose="020F0502020204030204" pitchFamily="34" charset="0"/>
            </a:endParaRPr>
          </a:p>
          <a:p>
            <a:pPr marL="342900" marR="0" lvl="0" indent="-342900">
              <a:lnSpc>
                <a:spcPct val="107000"/>
              </a:lnSpc>
              <a:spcAft>
                <a:spcPts val="800"/>
              </a:spcAft>
              <a:buSzPts val="1000"/>
              <a:buFont typeface="Symbol" panose="05050102010706020507" pitchFamily="18" charset="2"/>
              <a:buChar char=""/>
              <a:tabLst>
                <a:tab pos="457200" algn="l"/>
              </a:tabLst>
            </a:pPr>
            <a:r>
              <a:rPr lang="en-IN" sz="1400" b="0" dirty="0">
                <a:solidFill>
                  <a:srgbClr val="333333"/>
                </a:solidFill>
                <a:effectLst/>
                <a:latin typeface="Times New Roman" panose="02020603050405020304" pitchFamily="18" charset="0"/>
                <a:ea typeface="Calibri" panose="020F0502020204030204" pitchFamily="34" charset="0"/>
              </a:rPr>
              <a:t>GPT – For future resume enhancement and interview Q&amp;A</a:t>
            </a:r>
            <a:endParaRPr lang="en-IN" sz="1400" b="1" dirty="0">
              <a:solidFill>
                <a:srgbClr val="333333"/>
              </a:solidFill>
              <a:effectLst/>
              <a:latin typeface="Times New Roman" panose="02020603050405020304" pitchFamily="18" charset="0"/>
              <a:ea typeface="Calibri" panose="020F0502020204030204" pitchFamily="34" charset="0"/>
            </a:endParaRPr>
          </a:p>
          <a:p>
            <a:pPr marL="0" marR="0">
              <a:lnSpc>
                <a:spcPct val="107000"/>
              </a:lnSpc>
              <a:spcAft>
                <a:spcPts val="800"/>
              </a:spcAft>
              <a:buNone/>
            </a:pPr>
            <a:r>
              <a:rPr lang="en-IN" sz="1400" b="0" dirty="0">
                <a:solidFill>
                  <a:srgbClr val="333333"/>
                </a:solidFill>
                <a:effectLst/>
                <a:latin typeface="Times New Roman" panose="02020603050405020304" pitchFamily="18" charset="0"/>
                <a:ea typeface="Calibri" panose="020F0502020204030204" pitchFamily="34" charset="0"/>
              </a:rPr>
              <a:t>Backend</a:t>
            </a:r>
            <a:endParaRPr lang="en-IN" sz="1400" b="1" dirty="0">
              <a:solidFill>
                <a:srgbClr val="333333"/>
              </a:solidFill>
              <a:effectLst/>
              <a:latin typeface="Times New Roman" panose="02020603050405020304" pitchFamily="18" charset="0"/>
              <a:ea typeface="Calibri" panose="020F0502020204030204" pitchFamily="34" charset="0"/>
            </a:endParaRPr>
          </a:p>
          <a:p>
            <a:pPr marL="342900" marR="0" lvl="0" indent="-342900">
              <a:lnSpc>
                <a:spcPct val="107000"/>
              </a:lnSpc>
              <a:spcAft>
                <a:spcPts val="800"/>
              </a:spcAft>
              <a:buSzPts val="1000"/>
              <a:buFont typeface="Symbol" panose="05050102010706020507" pitchFamily="18" charset="2"/>
              <a:buChar char=""/>
              <a:tabLst>
                <a:tab pos="457200" algn="l"/>
              </a:tabLst>
            </a:pPr>
            <a:r>
              <a:rPr lang="en-IN" sz="1400" b="0" dirty="0">
                <a:solidFill>
                  <a:srgbClr val="333333"/>
                </a:solidFill>
                <a:effectLst/>
                <a:latin typeface="Times New Roman" panose="02020603050405020304" pitchFamily="18" charset="0"/>
                <a:ea typeface="Calibri" panose="020F0502020204030204" pitchFamily="34" charset="0"/>
              </a:rPr>
              <a:t>Flask – REST API framework</a:t>
            </a:r>
            <a:endParaRPr lang="en-IN" sz="1400" b="1" dirty="0">
              <a:solidFill>
                <a:srgbClr val="333333"/>
              </a:solidFill>
              <a:effectLst/>
              <a:latin typeface="Times New Roman" panose="02020603050405020304" pitchFamily="18" charset="0"/>
              <a:ea typeface="Calibri" panose="020F0502020204030204" pitchFamily="34" charset="0"/>
            </a:endParaRPr>
          </a:p>
          <a:p>
            <a:pPr marL="342900" marR="0" lvl="0" indent="-342900">
              <a:lnSpc>
                <a:spcPct val="107000"/>
              </a:lnSpc>
              <a:spcAft>
                <a:spcPts val="800"/>
              </a:spcAft>
              <a:buSzPts val="1000"/>
              <a:buFont typeface="Symbol" panose="05050102010706020507" pitchFamily="18" charset="2"/>
              <a:buChar char=""/>
              <a:tabLst>
                <a:tab pos="457200" algn="l"/>
              </a:tabLst>
            </a:pPr>
            <a:r>
              <a:rPr lang="en-IN" sz="1400" b="0" dirty="0">
                <a:solidFill>
                  <a:srgbClr val="333333"/>
                </a:solidFill>
                <a:effectLst/>
                <a:latin typeface="Times New Roman" panose="02020603050405020304" pitchFamily="18" charset="0"/>
                <a:ea typeface="Calibri" panose="020F0502020204030204" pitchFamily="34" charset="0"/>
              </a:rPr>
              <a:t>FAISS – Fast semantic similarity search</a:t>
            </a:r>
            <a:endParaRPr lang="en-IN" sz="1400" b="1" dirty="0">
              <a:solidFill>
                <a:srgbClr val="333333"/>
              </a:solidFill>
              <a:effectLst/>
              <a:latin typeface="Times New Roman" panose="02020603050405020304" pitchFamily="18" charset="0"/>
              <a:ea typeface="Calibri" panose="020F0502020204030204" pitchFamily="34" charset="0"/>
            </a:endParaRPr>
          </a:p>
          <a:p>
            <a:pPr marL="342900" marR="0" lvl="0" indent="-342900">
              <a:lnSpc>
                <a:spcPct val="107000"/>
              </a:lnSpc>
              <a:spcAft>
                <a:spcPts val="800"/>
              </a:spcAft>
              <a:buSzPts val="1000"/>
              <a:buFont typeface="Symbol" panose="05050102010706020507" pitchFamily="18" charset="2"/>
              <a:buChar char=""/>
              <a:tabLst>
                <a:tab pos="457200" algn="l"/>
              </a:tabLst>
            </a:pPr>
            <a:r>
              <a:rPr lang="en-IN" sz="1400" b="0" dirty="0">
                <a:solidFill>
                  <a:srgbClr val="333333"/>
                </a:solidFill>
                <a:effectLst/>
                <a:latin typeface="Times New Roman" panose="02020603050405020304" pitchFamily="18" charset="0"/>
                <a:ea typeface="Calibri" panose="020F0502020204030204" pitchFamily="34" charset="0"/>
              </a:rPr>
              <a:t>Pandas – Data processing</a:t>
            </a:r>
            <a:endParaRPr lang="en-IN" sz="1400" b="1" dirty="0">
              <a:solidFill>
                <a:srgbClr val="333333"/>
              </a:solidFill>
              <a:effectLst/>
              <a:latin typeface="Times New Roman" panose="02020603050405020304" pitchFamily="18" charset="0"/>
              <a:ea typeface="Calibri" panose="020F0502020204030204" pitchFamily="34" charset="0"/>
            </a:endParaRPr>
          </a:p>
          <a:p>
            <a:pPr marL="342900" marR="0" lvl="0" indent="-342900">
              <a:lnSpc>
                <a:spcPct val="107000"/>
              </a:lnSpc>
              <a:spcAft>
                <a:spcPts val="800"/>
              </a:spcAft>
              <a:buSzPts val="1000"/>
              <a:buFont typeface="Symbol" panose="05050102010706020507" pitchFamily="18" charset="2"/>
              <a:buChar char=""/>
              <a:tabLst>
                <a:tab pos="457200" algn="l"/>
              </a:tabLst>
            </a:pPr>
            <a:r>
              <a:rPr lang="en-IN" sz="1400" b="0" dirty="0">
                <a:solidFill>
                  <a:srgbClr val="333333"/>
                </a:solidFill>
                <a:effectLst/>
                <a:latin typeface="Times New Roman" panose="02020603050405020304" pitchFamily="18" charset="0"/>
                <a:ea typeface="Calibri" panose="020F0502020204030204" pitchFamily="34" charset="0"/>
              </a:rPr>
              <a:t>Flask-CORS – Cross-origin API access</a:t>
            </a:r>
            <a:endParaRPr lang="en-IN" sz="1400" b="1" dirty="0">
              <a:solidFill>
                <a:srgbClr val="333333"/>
              </a:solidFill>
              <a:effectLst/>
              <a:latin typeface="Times New Roman" panose="02020603050405020304" pitchFamily="18" charset="0"/>
              <a:ea typeface="Calibri" panose="020F0502020204030204" pitchFamily="34" charset="0"/>
            </a:endParaRPr>
          </a:p>
          <a:p>
            <a:pPr marL="0" marR="0">
              <a:lnSpc>
                <a:spcPct val="107000"/>
              </a:lnSpc>
              <a:spcAft>
                <a:spcPts val="800"/>
              </a:spcAft>
              <a:buNone/>
            </a:pPr>
            <a:r>
              <a:rPr lang="en-IN" sz="1400" b="0" dirty="0">
                <a:solidFill>
                  <a:srgbClr val="333333"/>
                </a:solidFill>
                <a:effectLst/>
                <a:latin typeface="Times New Roman" panose="02020603050405020304" pitchFamily="18" charset="0"/>
                <a:ea typeface="Calibri" panose="020F0502020204030204" pitchFamily="34" charset="0"/>
              </a:rPr>
              <a:t>Frontend</a:t>
            </a:r>
            <a:endParaRPr lang="en-IN" sz="1400" b="1" dirty="0">
              <a:solidFill>
                <a:srgbClr val="333333"/>
              </a:solidFill>
              <a:effectLst/>
              <a:latin typeface="Times New Roman" panose="02020603050405020304" pitchFamily="18" charset="0"/>
              <a:ea typeface="Calibri" panose="020F0502020204030204" pitchFamily="34" charset="0"/>
            </a:endParaRPr>
          </a:p>
          <a:p>
            <a:pPr marL="342900" marR="0" lvl="0" indent="-342900">
              <a:lnSpc>
                <a:spcPct val="107000"/>
              </a:lnSpc>
              <a:spcAft>
                <a:spcPts val="800"/>
              </a:spcAft>
              <a:buSzPts val="1000"/>
              <a:buFont typeface="Symbol" panose="05050102010706020507" pitchFamily="18" charset="2"/>
              <a:buChar char=""/>
              <a:tabLst>
                <a:tab pos="457200" algn="l"/>
              </a:tabLst>
            </a:pPr>
            <a:r>
              <a:rPr lang="en-IN" sz="1400" b="0" dirty="0">
                <a:solidFill>
                  <a:srgbClr val="333333"/>
                </a:solidFill>
                <a:effectLst/>
                <a:latin typeface="Times New Roman" panose="02020603050405020304" pitchFamily="18" charset="0"/>
                <a:ea typeface="Calibri" panose="020F0502020204030204" pitchFamily="34" charset="0"/>
              </a:rPr>
              <a:t>React.js – UI (App.js, Dashboard.js)</a:t>
            </a:r>
            <a:endParaRPr lang="en-IN" sz="1400" b="1" dirty="0">
              <a:solidFill>
                <a:srgbClr val="333333"/>
              </a:solidFill>
              <a:effectLst/>
              <a:latin typeface="Times New Roman" panose="02020603050405020304" pitchFamily="18" charset="0"/>
              <a:ea typeface="Calibri" panose="020F0502020204030204" pitchFamily="34" charset="0"/>
            </a:endParaRPr>
          </a:p>
          <a:p>
            <a:pPr marL="342900" marR="0" lvl="0" indent="-342900">
              <a:lnSpc>
                <a:spcPct val="107000"/>
              </a:lnSpc>
              <a:spcAft>
                <a:spcPts val="800"/>
              </a:spcAft>
              <a:buSzPts val="1000"/>
              <a:buFont typeface="Symbol" panose="05050102010706020507" pitchFamily="18" charset="2"/>
              <a:buChar char=""/>
              <a:tabLst>
                <a:tab pos="457200" algn="l"/>
              </a:tabLst>
            </a:pPr>
            <a:r>
              <a:rPr lang="en-IN" sz="1400" b="0" dirty="0">
                <a:solidFill>
                  <a:srgbClr val="333333"/>
                </a:solidFill>
                <a:effectLst/>
                <a:latin typeface="Times New Roman" panose="02020603050405020304" pitchFamily="18" charset="0"/>
                <a:ea typeface="Calibri" panose="020F0502020204030204" pitchFamily="34" charset="0"/>
              </a:rPr>
              <a:t>Axios – API calls and data handling</a:t>
            </a:r>
            <a:endParaRPr lang="en-IN" sz="1400" b="1" dirty="0">
              <a:solidFill>
                <a:srgbClr val="333333"/>
              </a:solidFill>
              <a:effectLst/>
              <a:latin typeface="Times New Roman" panose="02020603050405020304" pitchFamily="18" charset="0"/>
              <a:ea typeface="Calibri" panose="020F0502020204030204" pitchFamily="34" charset="0"/>
            </a:endParaRPr>
          </a:p>
          <a:p>
            <a:pPr marL="0" marR="0">
              <a:lnSpc>
                <a:spcPct val="107000"/>
              </a:lnSpc>
              <a:spcAft>
                <a:spcPts val="800"/>
              </a:spcAft>
              <a:buNone/>
            </a:pPr>
            <a:r>
              <a:rPr lang="en-IN" sz="1400" b="0" dirty="0">
                <a:solidFill>
                  <a:srgbClr val="333333"/>
                </a:solidFill>
                <a:effectLst/>
                <a:latin typeface="Times New Roman" panose="02020603050405020304" pitchFamily="18" charset="0"/>
                <a:ea typeface="Calibri" panose="020F0502020204030204" pitchFamily="34" charset="0"/>
              </a:rPr>
              <a:t> Visualization</a:t>
            </a:r>
            <a:endParaRPr lang="en-IN" sz="1400" b="1" dirty="0">
              <a:solidFill>
                <a:srgbClr val="333333"/>
              </a:solidFill>
              <a:effectLst/>
              <a:latin typeface="Times New Roman" panose="02020603050405020304" pitchFamily="18" charset="0"/>
              <a:ea typeface="Calibri" panose="020F0502020204030204" pitchFamily="34" charset="0"/>
            </a:endParaRPr>
          </a:p>
          <a:p>
            <a:pPr marL="342900" marR="0" lvl="0" indent="-342900">
              <a:lnSpc>
                <a:spcPct val="107000"/>
              </a:lnSpc>
              <a:spcAft>
                <a:spcPts val="800"/>
              </a:spcAft>
              <a:buSzPts val="1000"/>
              <a:buFont typeface="Symbol" panose="05050102010706020507" pitchFamily="18" charset="2"/>
              <a:buChar char=""/>
              <a:tabLst>
                <a:tab pos="457200" algn="l"/>
              </a:tabLst>
            </a:pPr>
            <a:r>
              <a:rPr lang="en-IN" sz="1400" b="0" dirty="0">
                <a:solidFill>
                  <a:srgbClr val="333333"/>
                </a:solidFill>
                <a:effectLst/>
                <a:latin typeface="Times New Roman" panose="02020603050405020304" pitchFamily="18" charset="0"/>
                <a:ea typeface="Calibri" panose="020F0502020204030204" pitchFamily="34" charset="0"/>
              </a:rPr>
              <a:t>Plotly – Interactive visualizations (e.g., skill heatmaps, job clusters)</a:t>
            </a:r>
            <a:endParaRPr lang="en-IN" sz="1400" b="1" dirty="0">
              <a:solidFill>
                <a:srgbClr val="333333"/>
              </a:solidFill>
              <a:effectLst/>
              <a:latin typeface="Times New Roman" panose="02020603050405020304" pitchFamily="18" charset="0"/>
              <a:ea typeface="Calibri" panose="020F0502020204030204" pitchFamily="34" charset="0"/>
            </a:endParaRPr>
          </a:p>
          <a:p>
            <a:pPr marL="342900" marR="0" lvl="0" indent="-342900">
              <a:lnSpc>
                <a:spcPct val="107000"/>
              </a:lnSpc>
              <a:spcAft>
                <a:spcPts val="800"/>
              </a:spcAft>
              <a:buSzPts val="1000"/>
              <a:buFont typeface="Symbol" panose="05050102010706020507" pitchFamily="18" charset="2"/>
              <a:buChar char=""/>
              <a:tabLst>
                <a:tab pos="457200" algn="l"/>
              </a:tabLst>
            </a:pPr>
            <a:r>
              <a:rPr lang="en-IN" sz="1400" b="0" dirty="0">
                <a:solidFill>
                  <a:srgbClr val="333333"/>
                </a:solidFill>
                <a:effectLst/>
                <a:latin typeface="Times New Roman" panose="02020603050405020304" pitchFamily="18" charset="0"/>
                <a:ea typeface="Calibri" panose="020F0502020204030204" pitchFamily="34" charset="0"/>
              </a:rPr>
              <a:t>PCA/t-SNE – Dimensionality reduction for embedding plots</a:t>
            </a:r>
            <a:endParaRPr lang="en-IN" sz="1400" b="1" dirty="0">
              <a:solidFill>
                <a:srgbClr val="333333"/>
              </a:solidFill>
              <a:effectLst/>
              <a:latin typeface="Times New Roman" panose="02020603050405020304" pitchFamily="18" charset="0"/>
              <a:ea typeface="Calibri" panose="020F0502020204030204" pitchFamily="34" charset="0"/>
            </a:endParaRPr>
          </a:p>
          <a:p>
            <a:pPr marL="0" marR="0">
              <a:lnSpc>
                <a:spcPct val="107000"/>
              </a:lnSpc>
              <a:spcAft>
                <a:spcPts val="800"/>
              </a:spcAft>
            </a:pPr>
            <a:r>
              <a:rPr lang="en-IN" sz="1400" b="0" dirty="0">
                <a:solidFill>
                  <a:srgbClr val="333333"/>
                </a:solidFill>
                <a:effectLst/>
                <a:latin typeface="Times New Roman" panose="02020603050405020304" pitchFamily="18" charset="0"/>
                <a:ea typeface="Calibri" panose="020F0502020204030204" pitchFamily="34" charset="0"/>
              </a:rPr>
              <a:t> </a:t>
            </a:r>
            <a:endParaRPr lang="en-IN" sz="1400" b="1" dirty="0">
              <a:solidFill>
                <a:srgbClr val="333333"/>
              </a:solidFill>
              <a:effectLst/>
              <a:latin typeface="Times New Roman" panose="02020603050405020304" pitchFamily="18" charset="0"/>
              <a:ea typeface="Calibri" panose="020F0502020204030204" pitchFamily="34"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23"/>
        <p:cNvGrpSpPr/>
        <p:nvPr/>
      </p:nvGrpSpPr>
      <p:grpSpPr>
        <a:xfrm>
          <a:off x="0" y="0"/>
          <a:ext cx="0" cy="0"/>
          <a:chOff x="0" y="0"/>
          <a:chExt cx="0" cy="0"/>
        </a:xfrm>
      </p:grpSpPr>
      <p:sp>
        <p:nvSpPr>
          <p:cNvPr id="124" name="Google Shape;124;g3557b111a15_0_1227"/>
          <p:cNvSpPr txBox="1">
            <a:spLocks noGrp="1"/>
          </p:cNvSpPr>
          <p:nvPr>
            <p:ph type="title"/>
          </p:nvPr>
        </p:nvSpPr>
        <p:spPr>
          <a:xfrm>
            <a:off x="457200" y="274680"/>
            <a:ext cx="8229300" cy="1142700"/>
          </a:xfrm>
          <a:prstGeom prst="rect">
            <a:avLst/>
          </a:prstGeom>
        </p:spPr>
        <p:txBody>
          <a:bodyPr spcFirstLastPara="1" wrap="square" lIns="0" tIns="0" rIns="0" bIns="0" anchor="ctr" anchorCtr="0">
            <a:noAutofit/>
          </a:bodyPr>
          <a:lstStyle/>
          <a:p>
            <a:pPr>
              <a:buNone/>
            </a:pPr>
            <a:r>
              <a:rPr lang="en-US" b="1" dirty="0">
                <a:solidFill>
                  <a:schemeClr val="tx1"/>
                </a:solidFill>
              </a:rPr>
              <a:t>Backend &amp; API</a:t>
            </a:r>
            <a:endParaRPr lang="en-US" dirty="0">
              <a:solidFill>
                <a:schemeClr val="tx1"/>
              </a:solidFill>
            </a:endParaRPr>
          </a:p>
        </p:txBody>
      </p:sp>
      <p:sp>
        <p:nvSpPr>
          <p:cNvPr id="125" name="Google Shape;125;g3557b111a15_0_1227"/>
          <p:cNvSpPr txBox="1">
            <a:spLocks noGrp="1"/>
          </p:cNvSpPr>
          <p:nvPr>
            <p:ph type="body" idx="1"/>
          </p:nvPr>
        </p:nvSpPr>
        <p:spPr>
          <a:xfrm>
            <a:off x="457200" y="1600200"/>
            <a:ext cx="8229300" cy="4525500"/>
          </a:xfrm>
          <a:prstGeom prst="rect">
            <a:avLst/>
          </a:prstGeom>
        </p:spPr>
        <p:txBody>
          <a:bodyPr spcFirstLastPara="1" wrap="square" lIns="0" tIns="0" rIns="0" bIns="0" anchor="t" anchorCtr="0">
            <a:normAutofit/>
          </a:bodyPr>
          <a:lstStyle/>
          <a:p>
            <a:pPr>
              <a:buNone/>
            </a:pPr>
            <a:r>
              <a:rPr lang="en-US" dirty="0">
                <a:solidFill>
                  <a:schemeClr val="tx1"/>
                </a:solidFill>
              </a:rPr>
              <a:t>We built a RESTful Flask API</a:t>
            </a:r>
          </a:p>
          <a:p>
            <a:pPr>
              <a:buNone/>
            </a:pPr>
            <a:endParaRPr lang="en-US" dirty="0">
              <a:solidFill>
                <a:schemeClr val="tx1"/>
              </a:solidFill>
            </a:endParaRPr>
          </a:p>
          <a:p>
            <a:pPr>
              <a:buNone/>
            </a:pPr>
            <a:r>
              <a:rPr lang="en-US" dirty="0">
                <a:solidFill>
                  <a:schemeClr val="tx1"/>
                </a:solidFill>
              </a:rPr>
              <a:t>When a resume is submitted, it:</a:t>
            </a:r>
          </a:p>
          <a:p>
            <a:pPr marL="514350" indent="-285750">
              <a:buFont typeface="Arial" panose="020B0604020202020204" pitchFamily="34" charset="0"/>
              <a:buChar char="•"/>
            </a:pPr>
            <a:r>
              <a:rPr lang="en-US" dirty="0">
                <a:solidFill>
                  <a:schemeClr val="tx1"/>
                </a:solidFill>
              </a:rPr>
              <a:t>Cleans and embeds the text,</a:t>
            </a:r>
          </a:p>
          <a:p>
            <a:pPr marL="514350" indent="-285750">
              <a:buFont typeface="Arial" panose="020B0604020202020204" pitchFamily="34" charset="0"/>
              <a:buChar char="•"/>
            </a:pPr>
            <a:r>
              <a:rPr lang="en-US" dirty="0">
                <a:solidFill>
                  <a:schemeClr val="tx1"/>
                </a:solidFill>
              </a:rPr>
              <a:t>Queries FAISS,</a:t>
            </a:r>
          </a:p>
          <a:p>
            <a:pPr marL="514350" indent="-285750">
              <a:buFont typeface="Arial" panose="020B0604020202020204" pitchFamily="34" charset="0"/>
              <a:buChar char="•"/>
            </a:pPr>
            <a:r>
              <a:rPr lang="en-US" dirty="0">
                <a:solidFill>
                  <a:schemeClr val="tx1"/>
                </a:solidFill>
              </a:rPr>
              <a:t>Returns the top job matches as JSON, with similarity scores.</a:t>
            </a:r>
          </a:p>
          <a:p>
            <a:r>
              <a:rPr lang="en-US" dirty="0">
                <a:solidFill>
                  <a:schemeClr val="tx1"/>
                </a:solidFill>
              </a:rPr>
              <a:t>The API is modular and scalable future-ready for features like resume feedback, GPT-based suggestions, and recruiter dashboards.</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29"/>
        <p:cNvGrpSpPr/>
        <p:nvPr/>
      </p:nvGrpSpPr>
      <p:grpSpPr>
        <a:xfrm>
          <a:off x="0" y="0"/>
          <a:ext cx="0" cy="0"/>
          <a:chOff x="0" y="0"/>
          <a:chExt cx="0" cy="0"/>
        </a:xfrm>
      </p:grpSpPr>
      <p:sp>
        <p:nvSpPr>
          <p:cNvPr id="130" name="Google Shape;130;g3557b111a15_0_1234"/>
          <p:cNvSpPr txBox="1">
            <a:spLocks noGrp="1"/>
          </p:cNvSpPr>
          <p:nvPr>
            <p:ph type="title"/>
          </p:nvPr>
        </p:nvSpPr>
        <p:spPr>
          <a:xfrm>
            <a:off x="311700" y="593367"/>
            <a:ext cx="8520600" cy="763500"/>
          </a:xfrm>
          <a:prstGeom prst="rect">
            <a:avLst/>
          </a:prstGeom>
        </p:spPr>
        <p:txBody>
          <a:bodyPr spcFirstLastPara="1" wrap="square" lIns="91425" tIns="91425" rIns="91425" bIns="91425" anchor="t" anchorCtr="0">
            <a:normAutofit/>
          </a:bodyPr>
          <a:lstStyle/>
          <a:p>
            <a:pPr marL="0" lvl="0" indent="0" algn="ctr" rtl="0">
              <a:spcBef>
                <a:spcPts val="0"/>
              </a:spcBef>
              <a:spcAft>
                <a:spcPts val="0"/>
              </a:spcAft>
              <a:buNone/>
            </a:pPr>
            <a:r>
              <a:rPr lang="en-US" b="1" dirty="0"/>
              <a:t>React Frontend Flow</a:t>
            </a:r>
            <a:endParaRPr b="1" dirty="0"/>
          </a:p>
        </p:txBody>
      </p:sp>
      <p:sp>
        <p:nvSpPr>
          <p:cNvPr id="131" name="Google Shape;131;g3557b111a15_0_1234"/>
          <p:cNvSpPr txBox="1">
            <a:spLocks noGrp="1"/>
          </p:cNvSpPr>
          <p:nvPr>
            <p:ph type="body" idx="1"/>
          </p:nvPr>
        </p:nvSpPr>
        <p:spPr>
          <a:xfrm>
            <a:off x="311700" y="1536625"/>
            <a:ext cx="4118898" cy="4555200"/>
          </a:xfrm>
          <a:prstGeom prst="rect">
            <a:avLst/>
          </a:prstGeom>
        </p:spPr>
        <p:txBody>
          <a:bodyPr spcFirstLastPara="1" wrap="square" lIns="91425" tIns="91425" rIns="91425" bIns="91425" anchor="t" anchorCtr="0">
            <a:normAutofit/>
          </a:bodyPr>
          <a:lstStyle/>
          <a:p>
            <a:pPr marL="0" marR="0">
              <a:lnSpc>
                <a:spcPct val="107000"/>
              </a:lnSpc>
              <a:spcAft>
                <a:spcPts val="800"/>
              </a:spcAft>
              <a:buNone/>
            </a:pPr>
            <a:r>
              <a:rPr lang="en-US" dirty="0">
                <a:solidFill>
                  <a:srgbClr val="333333"/>
                </a:solidFill>
                <a:effectLst/>
                <a:latin typeface="Times New Roman" panose="02020603050405020304" pitchFamily="18" charset="0"/>
                <a:ea typeface="Calibri" panose="020F0502020204030204" pitchFamily="34" charset="0"/>
              </a:rPr>
              <a:t>The frontend was built using React for responsiveness and interactivity.</a:t>
            </a:r>
            <a:endParaRPr lang="en-IN" dirty="0">
              <a:solidFill>
                <a:srgbClr val="333333"/>
              </a:solidFill>
              <a:effectLst/>
              <a:latin typeface="Times New Roman" panose="02020603050405020304" pitchFamily="18" charset="0"/>
              <a:ea typeface="Calibri" panose="020F0502020204030204" pitchFamily="34" charset="0"/>
            </a:endParaRPr>
          </a:p>
          <a:p>
            <a:pPr marL="0" marR="0">
              <a:lnSpc>
                <a:spcPct val="107000"/>
              </a:lnSpc>
              <a:spcAft>
                <a:spcPts val="800"/>
              </a:spcAft>
              <a:buNone/>
            </a:pPr>
            <a:r>
              <a:rPr lang="en-US" dirty="0">
                <a:solidFill>
                  <a:srgbClr val="333333"/>
                </a:solidFill>
                <a:effectLst/>
                <a:latin typeface="Times New Roman" panose="02020603050405020304" pitchFamily="18" charset="0"/>
                <a:ea typeface="Calibri" panose="020F0502020204030204" pitchFamily="34" charset="0"/>
              </a:rPr>
              <a:t>The user:</a:t>
            </a:r>
            <a:endParaRPr lang="en-IN" dirty="0">
              <a:solidFill>
                <a:srgbClr val="333333"/>
              </a:solidFill>
              <a:effectLst/>
              <a:latin typeface="Times New Roman" panose="02020603050405020304" pitchFamily="18" charset="0"/>
              <a:ea typeface="Calibri" panose="020F0502020204030204" pitchFamily="34" charset="0"/>
            </a:endParaRPr>
          </a:p>
          <a:p>
            <a:pPr marL="342900" marR="0" lvl="0" indent="-342900">
              <a:lnSpc>
                <a:spcPct val="107000"/>
              </a:lnSpc>
              <a:spcAft>
                <a:spcPts val="800"/>
              </a:spcAft>
              <a:buFont typeface="Arial" panose="020B0604020202020204" pitchFamily="34" charset="0"/>
              <a:buChar char="•"/>
              <a:tabLst>
                <a:tab pos="457200" algn="l"/>
              </a:tabLst>
            </a:pPr>
            <a:r>
              <a:rPr lang="en-US" dirty="0">
                <a:solidFill>
                  <a:srgbClr val="333333"/>
                </a:solidFill>
                <a:effectLst/>
                <a:latin typeface="Times New Roman" panose="02020603050405020304" pitchFamily="18" charset="0"/>
                <a:ea typeface="Calibri" panose="020F0502020204030204" pitchFamily="34" charset="0"/>
                <a:cs typeface="Times New Roman" panose="02020603050405020304" pitchFamily="18" charset="0"/>
              </a:rPr>
              <a:t>Pastes their resume,</a:t>
            </a:r>
            <a:endParaRPr lang="en-IN" dirty="0">
              <a:solidFill>
                <a:srgbClr val="333333"/>
              </a:solidFill>
              <a:effectLst/>
              <a:latin typeface="Times New Roman" panose="02020603050405020304" pitchFamily="18" charset="0"/>
              <a:ea typeface="Calibri" panose="020F0502020204030204" pitchFamily="34" charset="0"/>
              <a:cs typeface="Times New Roman" panose="02020603050405020304" pitchFamily="18" charset="0"/>
            </a:endParaRPr>
          </a:p>
          <a:p>
            <a:pPr marL="342900" marR="0" lvl="0" indent="-342900">
              <a:lnSpc>
                <a:spcPct val="107000"/>
              </a:lnSpc>
              <a:spcAft>
                <a:spcPts val="800"/>
              </a:spcAft>
              <a:buFont typeface="Arial" panose="020B0604020202020204" pitchFamily="34" charset="0"/>
              <a:buChar char="•"/>
              <a:tabLst>
                <a:tab pos="457200" algn="l"/>
              </a:tabLst>
            </a:pPr>
            <a:r>
              <a:rPr lang="en-US" dirty="0">
                <a:solidFill>
                  <a:srgbClr val="333333"/>
                </a:solidFill>
                <a:effectLst/>
                <a:latin typeface="Times New Roman" panose="02020603050405020304" pitchFamily="18" charset="0"/>
                <a:ea typeface="Calibri" panose="020F0502020204030204" pitchFamily="34" charset="0"/>
                <a:cs typeface="Times New Roman" panose="02020603050405020304" pitchFamily="18" charset="0"/>
              </a:rPr>
              <a:t>Clicks submit,</a:t>
            </a:r>
            <a:endParaRPr lang="en-IN" dirty="0">
              <a:solidFill>
                <a:srgbClr val="333333"/>
              </a:solidFill>
              <a:effectLst/>
              <a:latin typeface="Times New Roman" panose="02020603050405020304" pitchFamily="18" charset="0"/>
              <a:ea typeface="Calibri" panose="020F0502020204030204" pitchFamily="34" charset="0"/>
              <a:cs typeface="Times New Roman" panose="02020603050405020304" pitchFamily="18" charset="0"/>
            </a:endParaRPr>
          </a:p>
          <a:p>
            <a:pPr marL="342900" marR="0" lvl="0" indent="-342900">
              <a:lnSpc>
                <a:spcPct val="107000"/>
              </a:lnSpc>
              <a:spcAft>
                <a:spcPts val="800"/>
              </a:spcAft>
              <a:buFont typeface="Arial" panose="020B0604020202020204" pitchFamily="34" charset="0"/>
              <a:buChar char="•"/>
              <a:tabLst>
                <a:tab pos="457200" algn="l"/>
              </a:tabLst>
            </a:pPr>
            <a:r>
              <a:rPr lang="en-US" dirty="0">
                <a:solidFill>
                  <a:srgbClr val="333333"/>
                </a:solidFill>
                <a:effectLst/>
                <a:latin typeface="Times New Roman" panose="02020603050405020304" pitchFamily="18" charset="0"/>
                <a:ea typeface="Calibri" panose="020F0502020204030204" pitchFamily="34" charset="0"/>
                <a:cs typeface="Times New Roman" panose="02020603050405020304" pitchFamily="18" charset="0"/>
              </a:rPr>
              <a:t>Gets job results instantly with clear titles, companies, scores, and short descriptions.</a:t>
            </a:r>
            <a:endParaRPr lang="en-IN" dirty="0">
              <a:solidFill>
                <a:srgbClr val="333333"/>
              </a:solidFill>
              <a:effectLst/>
              <a:latin typeface="Times New Roman" panose="02020603050405020304" pitchFamily="18" charset="0"/>
              <a:ea typeface="Calibri" panose="020F0502020204030204" pitchFamily="34" charset="0"/>
              <a:cs typeface="Times New Roman" panose="02020603050405020304" pitchFamily="18" charset="0"/>
            </a:endParaRPr>
          </a:p>
          <a:p>
            <a:pPr marL="0" marR="0">
              <a:lnSpc>
                <a:spcPct val="107000"/>
              </a:lnSpc>
              <a:spcAft>
                <a:spcPts val="800"/>
              </a:spcAft>
              <a:buNone/>
            </a:pPr>
            <a:r>
              <a:rPr lang="en-US" dirty="0">
                <a:solidFill>
                  <a:srgbClr val="333333"/>
                </a:solidFill>
                <a:effectLst/>
                <a:latin typeface="Times New Roman" panose="02020603050405020304" pitchFamily="18" charset="0"/>
                <a:ea typeface="Calibri" panose="020F0502020204030204" pitchFamily="34" charset="0"/>
              </a:rPr>
              <a:t>This simple flow hides a complex AI pipeline behind the scenes</a:t>
            </a:r>
            <a:r>
              <a:rPr lang="en-IN" dirty="0">
                <a:solidFill>
                  <a:srgbClr val="333333"/>
                </a:solidFill>
                <a:latin typeface="Times New Roman" panose="02020603050405020304" pitchFamily="18" charset="0"/>
                <a:ea typeface="Calibri" panose="020F0502020204030204" pitchFamily="34" charset="0"/>
              </a:rPr>
              <a:t>.</a:t>
            </a:r>
            <a:r>
              <a:rPr lang="en-IN" dirty="0">
                <a:solidFill>
                  <a:srgbClr val="333333"/>
                </a:solidFill>
                <a:effectLst/>
                <a:latin typeface="Times New Roman" panose="02020603050405020304" pitchFamily="18" charset="0"/>
                <a:ea typeface="Calibri" panose="020F0502020204030204" pitchFamily="34" charset="0"/>
              </a:rPr>
              <a:t> </a:t>
            </a:r>
          </a:p>
        </p:txBody>
      </p:sp>
      <p:pic>
        <p:nvPicPr>
          <p:cNvPr id="132" name="Google Shape;132;g3557b111a15_0_1234"/>
          <p:cNvPicPr preferRelativeResize="0"/>
          <p:nvPr/>
        </p:nvPicPr>
        <p:blipFill rotWithShape="1">
          <a:blip r:embed="rId3">
            <a:alphaModFix/>
          </a:blip>
          <a:srcRect l="8728" r="14365"/>
          <a:stretch/>
        </p:blipFill>
        <p:spPr>
          <a:xfrm>
            <a:off x="4353902" y="1356867"/>
            <a:ext cx="4595976" cy="4881825"/>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10"/>
        <p:cNvGrpSpPr/>
        <p:nvPr/>
      </p:nvGrpSpPr>
      <p:grpSpPr>
        <a:xfrm>
          <a:off x="0" y="0"/>
          <a:ext cx="0" cy="0"/>
          <a:chOff x="0" y="0"/>
          <a:chExt cx="0" cy="0"/>
        </a:xfrm>
      </p:grpSpPr>
      <p:sp>
        <p:nvSpPr>
          <p:cNvPr id="111" name="Google Shape;111;g3557b111a15_0_1220"/>
          <p:cNvSpPr txBox="1">
            <a:spLocks noGrp="1"/>
          </p:cNvSpPr>
          <p:nvPr>
            <p:ph type="title"/>
          </p:nvPr>
        </p:nvSpPr>
        <p:spPr>
          <a:xfrm>
            <a:off x="457200" y="274680"/>
            <a:ext cx="8229300" cy="1142700"/>
          </a:xfrm>
          <a:prstGeom prst="rect">
            <a:avLst/>
          </a:prstGeom>
        </p:spPr>
        <p:txBody>
          <a:bodyPr spcFirstLastPara="1" wrap="square" lIns="0" tIns="0" rIns="0" bIns="0" anchor="ctr" anchorCtr="0">
            <a:noAutofit/>
          </a:bodyPr>
          <a:lstStyle/>
          <a:p>
            <a:pPr marL="0" lvl="0" indent="0" algn="ctr" rtl="0">
              <a:spcBef>
                <a:spcPts val="0"/>
              </a:spcBef>
              <a:spcAft>
                <a:spcPts val="0"/>
              </a:spcAft>
              <a:buNone/>
            </a:pPr>
            <a:r>
              <a:rPr lang="en-US" sz="3100" b="1" dirty="0"/>
              <a:t>Methodology</a:t>
            </a:r>
            <a:endParaRPr sz="3100" b="1" dirty="0"/>
          </a:p>
        </p:txBody>
      </p:sp>
      <p:sp>
        <p:nvSpPr>
          <p:cNvPr id="112" name="Google Shape;112;g3557b111a15_0_1220"/>
          <p:cNvSpPr txBox="1">
            <a:spLocks noGrp="1"/>
          </p:cNvSpPr>
          <p:nvPr>
            <p:ph type="body" idx="1"/>
          </p:nvPr>
        </p:nvSpPr>
        <p:spPr>
          <a:xfrm>
            <a:off x="457200" y="1600200"/>
            <a:ext cx="3723300" cy="4525500"/>
          </a:xfrm>
          <a:prstGeom prst="rect">
            <a:avLst/>
          </a:prstGeom>
        </p:spPr>
        <p:txBody>
          <a:bodyPr spcFirstLastPara="1" wrap="square" lIns="0" tIns="0" rIns="0" bIns="0" anchor="t" anchorCtr="0">
            <a:normAutofit/>
          </a:bodyPr>
          <a:lstStyle/>
          <a:p>
            <a:pPr marL="133350" lvl="0" indent="0" algn="l" rtl="0">
              <a:spcBef>
                <a:spcPts val="0"/>
              </a:spcBef>
              <a:spcAft>
                <a:spcPts val="0"/>
              </a:spcAft>
              <a:buClr>
                <a:schemeClr val="dk1"/>
              </a:buClr>
              <a:buSzPts val="1500"/>
            </a:pPr>
            <a:r>
              <a:rPr lang="en-IN" sz="1500" b="1" dirty="0">
                <a:solidFill>
                  <a:schemeClr val="dk1"/>
                </a:solidFill>
              </a:rPr>
              <a:t>Preprocessing:</a:t>
            </a:r>
          </a:p>
          <a:p>
            <a:pPr marL="457200" lvl="0" indent="-323850" algn="l" rtl="0">
              <a:spcBef>
                <a:spcPts val="0"/>
              </a:spcBef>
              <a:spcAft>
                <a:spcPts val="0"/>
              </a:spcAft>
              <a:buClr>
                <a:schemeClr val="dk1"/>
              </a:buClr>
              <a:buSzPts val="1500"/>
              <a:buChar char="●"/>
            </a:pPr>
            <a:r>
              <a:rPr lang="en-IN" sz="1500" dirty="0">
                <a:solidFill>
                  <a:schemeClr val="dk1"/>
                </a:solidFill>
              </a:rPr>
              <a:t>Clean text: lowercase, remove noise, tokenize, lemmatize</a:t>
            </a:r>
          </a:p>
          <a:p>
            <a:pPr marL="457200" lvl="0" indent="-323850" algn="l" rtl="0">
              <a:spcBef>
                <a:spcPts val="0"/>
              </a:spcBef>
              <a:spcAft>
                <a:spcPts val="0"/>
              </a:spcAft>
              <a:buClr>
                <a:schemeClr val="dk1"/>
              </a:buClr>
              <a:buSzPts val="1500"/>
              <a:buChar char="●"/>
            </a:pPr>
            <a:r>
              <a:rPr lang="en-IN" sz="1500" dirty="0">
                <a:solidFill>
                  <a:schemeClr val="dk1"/>
                </a:solidFill>
              </a:rPr>
              <a:t>Extract skills and entities using NER</a:t>
            </a:r>
          </a:p>
          <a:p>
            <a:pPr marL="133350" lvl="0" indent="0" algn="l" rtl="0">
              <a:spcBef>
                <a:spcPts val="0"/>
              </a:spcBef>
              <a:spcAft>
                <a:spcPts val="0"/>
              </a:spcAft>
              <a:buClr>
                <a:schemeClr val="dk1"/>
              </a:buClr>
              <a:buSzPts val="1500"/>
            </a:pPr>
            <a:r>
              <a:rPr lang="en-IN" sz="1500" b="1" dirty="0">
                <a:solidFill>
                  <a:schemeClr val="dk1"/>
                </a:solidFill>
              </a:rPr>
              <a:t>Embedding:</a:t>
            </a:r>
          </a:p>
          <a:p>
            <a:pPr marL="457200" lvl="0" indent="-323850" algn="l" rtl="0">
              <a:spcBef>
                <a:spcPts val="0"/>
              </a:spcBef>
              <a:spcAft>
                <a:spcPts val="0"/>
              </a:spcAft>
              <a:buClr>
                <a:schemeClr val="dk1"/>
              </a:buClr>
              <a:buSzPts val="1500"/>
              <a:buChar char="●"/>
            </a:pPr>
            <a:r>
              <a:rPr lang="en-IN" sz="1500" dirty="0">
                <a:solidFill>
                  <a:schemeClr val="dk1"/>
                </a:solidFill>
              </a:rPr>
              <a:t>Convert resume/job text into vectors using SentenceTransformers</a:t>
            </a:r>
          </a:p>
          <a:p>
            <a:pPr marL="133350" lvl="0" indent="0" algn="l" rtl="0">
              <a:spcBef>
                <a:spcPts val="0"/>
              </a:spcBef>
              <a:spcAft>
                <a:spcPts val="0"/>
              </a:spcAft>
              <a:buClr>
                <a:schemeClr val="dk1"/>
              </a:buClr>
              <a:buSzPts val="1500"/>
            </a:pPr>
            <a:r>
              <a:rPr lang="en-IN" sz="1500" b="1" dirty="0">
                <a:solidFill>
                  <a:schemeClr val="dk1"/>
                </a:solidFill>
              </a:rPr>
              <a:t>Matching:</a:t>
            </a:r>
          </a:p>
          <a:p>
            <a:pPr marL="457200" lvl="0" indent="-323850" algn="l" rtl="0">
              <a:spcBef>
                <a:spcPts val="0"/>
              </a:spcBef>
              <a:spcAft>
                <a:spcPts val="0"/>
              </a:spcAft>
              <a:buClr>
                <a:schemeClr val="dk1"/>
              </a:buClr>
              <a:buSzPts val="1500"/>
              <a:buChar char="●"/>
            </a:pPr>
            <a:r>
              <a:rPr lang="en-IN" sz="1500" dirty="0">
                <a:solidFill>
                  <a:schemeClr val="dk1"/>
                </a:solidFill>
              </a:rPr>
              <a:t>Perform fast similarity search using FAISS (vector index)</a:t>
            </a:r>
          </a:p>
          <a:p>
            <a:pPr marL="133350" lvl="0" indent="0" algn="l" rtl="0">
              <a:spcBef>
                <a:spcPts val="0"/>
              </a:spcBef>
              <a:spcAft>
                <a:spcPts val="0"/>
              </a:spcAft>
              <a:buClr>
                <a:schemeClr val="dk1"/>
              </a:buClr>
              <a:buSzPts val="1500"/>
            </a:pPr>
            <a:r>
              <a:rPr lang="en-IN" sz="1500" b="1" dirty="0">
                <a:solidFill>
                  <a:schemeClr val="dk1"/>
                </a:solidFill>
              </a:rPr>
              <a:t>API Layer:</a:t>
            </a:r>
          </a:p>
          <a:p>
            <a:pPr marL="457200" lvl="0" indent="-323850" algn="l" rtl="0">
              <a:spcBef>
                <a:spcPts val="0"/>
              </a:spcBef>
              <a:spcAft>
                <a:spcPts val="0"/>
              </a:spcAft>
              <a:buClr>
                <a:schemeClr val="dk1"/>
              </a:buClr>
              <a:buSzPts val="1500"/>
              <a:buChar char="●"/>
            </a:pPr>
            <a:r>
              <a:rPr lang="en-IN" sz="1500" dirty="0">
                <a:solidFill>
                  <a:schemeClr val="dk1"/>
                </a:solidFill>
              </a:rPr>
              <a:t>Flask API endpoint /match-resume processes input and returns job matches</a:t>
            </a:r>
          </a:p>
          <a:p>
            <a:pPr marL="133350" lvl="0" indent="0" algn="l" rtl="0">
              <a:spcBef>
                <a:spcPts val="0"/>
              </a:spcBef>
              <a:spcAft>
                <a:spcPts val="0"/>
              </a:spcAft>
              <a:buClr>
                <a:schemeClr val="dk1"/>
              </a:buClr>
              <a:buSzPts val="1500"/>
            </a:pPr>
            <a:r>
              <a:rPr lang="en-IN" sz="1500" b="1" dirty="0">
                <a:solidFill>
                  <a:schemeClr val="dk1"/>
                </a:solidFill>
              </a:rPr>
              <a:t>Frontend UI:</a:t>
            </a:r>
          </a:p>
          <a:p>
            <a:pPr marL="457200" lvl="0" indent="-323850" algn="l" rtl="0">
              <a:spcBef>
                <a:spcPts val="0"/>
              </a:spcBef>
              <a:spcAft>
                <a:spcPts val="0"/>
              </a:spcAft>
              <a:buClr>
                <a:schemeClr val="dk1"/>
              </a:buClr>
              <a:buSzPts val="1500"/>
              <a:buChar char="●"/>
            </a:pPr>
            <a:r>
              <a:rPr lang="en-IN" sz="1500" dirty="0">
                <a:solidFill>
                  <a:schemeClr val="dk1"/>
                </a:solidFill>
              </a:rPr>
              <a:t>Resume input via dashboard → AI-powered results with similarity scores</a:t>
            </a:r>
            <a:endParaRPr sz="1500" dirty="0">
              <a:solidFill>
                <a:schemeClr val="dk1"/>
              </a:solidFill>
            </a:endParaRPr>
          </a:p>
          <a:p>
            <a:pPr marL="457200" lvl="0" indent="0" algn="l" rtl="0">
              <a:spcBef>
                <a:spcPts val="1200"/>
              </a:spcBef>
              <a:spcAft>
                <a:spcPts val="1200"/>
              </a:spcAft>
              <a:buNone/>
            </a:pPr>
            <a:endParaRPr sz="1500" dirty="0">
              <a:solidFill>
                <a:schemeClr val="dk1"/>
              </a:solidFill>
            </a:endParaRPr>
          </a:p>
        </p:txBody>
      </p:sp>
      <p:pic>
        <p:nvPicPr>
          <p:cNvPr id="113" name="Google Shape;113;g3557b111a15_0_1220"/>
          <p:cNvPicPr preferRelativeResize="0"/>
          <p:nvPr/>
        </p:nvPicPr>
        <p:blipFill>
          <a:blip r:embed="rId3">
            <a:alphaModFix/>
          </a:blip>
          <a:stretch>
            <a:fillRect/>
          </a:stretch>
        </p:blipFill>
        <p:spPr>
          <a:xfrm>
            <a:off x="4332900" y="1569780"/>
            <a:ext cx="4658700" cy="369072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36"/>
        <p:cNvGrpSpPr/>
        <p:nvPr/>
      </p:nvGrpSpPr>
      <p:grpSpPr>
        <a:xfrm>
          <a:off x="0" y="0"/>
          <a:ext cx="0" cy="0"/>
          <a:chOff x="0" y="0"/>
          <a:chExt cx="0" cy="0"/>
        </a:xfrm>
      </p:grpSpPr>
      <p:sp>
        <p:nvSpPr>
          <p:cNvPr id="137" name="Google Shape;137;g3557b111a15_0_1241"/>
          <p:cNvSpPr txBox="1">
            <a:spLocks noGrp="1"/>
          </p:cNvSpPr>
          <p:nvPr>
            <p:ph type="title"/>
          </p:nvPr>
        </p:nvSpPr>
        <p:spPr>
          <a:xfrm>
            <a:off x="457200" y="274680"/>
            <a:ext cx="8229300" cy="1142700"/>
          </a:xfrm>
          <a:prstGeom prst="rect">
            <a:avLst/>
          </a:prstGeom>
        </p:spPr>
        <p:txBody>
          <a:bodyPr spcFirstLastPara="1" wrap="square" lIns="0" tIns="0" rIns="0" bIns="0" anchor="ctr" anchorCtr="0">
            <a:noAutofit/>
          </a:bodyPr>
          <a:lstStyle/>
          <a:p>
            <a:pPr marL="0" lvl="0" indent="0" algn="ctr" rtl="0">
              <a:spcBef>
                <a:spcPts val="0"/>
              </a:spcBef>
              <a:spcAft>
                <a:spcPts val="0"/>
              </a:spcAft>
              <a:buNone/>
            </a:pPr>
            <a:r>
              <a:rPr lang="en-US" b="1" dirty="0"/>
              <a:t>Results</a:t>
            </a:r>
            <a:endParaRPr b="1" dirty="0"/>
          </a:p>
        </p:txBody>
      </p:sp>
      <p:sp>
        <p:nvSpPr>
          <p:cNvPr id="138" name="Google Shape;138;g3557b111a15_0_1241"/>
          <p:cNvSpPr txBox="1">
            <a:spLocks noGrp="1"/>
          </p:cNvSpPr>
          <p:nvPr>
            <p:ph type="body" idx="1"/>
          </p:nvPr>
        </p:nvSpPr>
        <p:spPr>
          <a:xfrm>
            <a:off x="457200" y="1600200"/>
            <a:ext cx="8229300" cy="4525500"/>
          </a:xfrm>
          <a:prstGeom prst="rect">
            <a:avLst/>
          </a:prstGeom>
        </p:spPr>
        <p:txBody>
          <a:bodyPr spcFirstLastPara="1" wrap="square" lIns="0" tIns="0" rIns="0" bIns="0" anchor="t" anchorCtr="0">
            <a:normAutofit/>
          </a:bodyPr>
          <a:lstStyle/>
          <a:p>
            <a:pPr>
              <a:buFont typeface="Arial" panose="020B0604020202020204" pitchFamily="34" charset="0"/>
              <a:buChar char="•"/>
            </a:pPr>
            <a:r>
              <a:rPr lang="en-US" sz="1400" b="1" dirty="0">
                <a:solidFill>
                  <a:schemeClr val="tx1"/>
                </a:solidFill>
              </a:rPr>
              <a:t>Matching Accuracy:</a:t>
            </a:r>
            <a:r>
              <a:rPr lang="en-US" sz="1400" dirty="0">
                <a:solidFill>
                  <a:schemeClr val="tx1"/>
                </a:solidFill>
              </a:rPr>
              <a:t> 85% on test samples</a:t>
            </a:r>
          </a:p>
          <a:p>
            <a:pPr>
              <a:buFont typeface="Arial" panose="020B0604020202020204" pitchFamily="34" charset="0"/>
              <a:buChar char="•"/>
            </a:pPr>
            <a:r>
              <a:rPr lang="en-US" sz="1400" b="1" dirty="0">
                <a:solidFill>
                  <a:schemeClr val="tx1"/>
                </a:solidFill>
              </a:rPr>
              <a:t>User Experience:</a:t>
            </a:r>
            <a:r>
              <a:rPr lang="en-US" sz="1400" dirty="0">
                <a:solidFill>
                  <a:schemeClr val="tx1"/>
                </a:solidFill>
              </a:rPr>
              <a:t> Clean UI, real-time feedback</a:t>
            </a:r>
          </a:p>
          <a:p>
            <a:pPr>
              <a:buFont typeface="Arial" panose="020B0604020202020204" pitchFamily="34" charset="0"/>
              <a:buChar char="•"/>
            </a:pPr>
            <a:r>
              <a:rPr lang="en-US" sz="1400" b="1" dirty="0">
                <a:solidFill>
                  <a:schemeClr val="tx1"/>
                </a:solidFill>
              </a:rPr>
              <a:t>Logs:</a:t>
            </a:r>
            <a:r>
              <a:rPr lang="en-US" sz="1400" dirty="0">
                <a:solidFill>
                  <a:schemeClr val="tx1"/>
                </a:solidFill>
              </a:rPr>
              <a:t> Backend records top similarity matches and job IDs</a:t>
            </a:r>
          </a:p>
          <a:p>
            <a:pPr>
              <a:buFont typeface="Arial" panose="020B0604020202020204" pitchFamily="34" charset="0"/>
              <a:buChar char="•"/>
            </a:pPr>
            <a:r>
              <a:rPr lang="en-US" sz="1400" b="1" dirty="0">
                <a:solidFill>
                  <a:schemeClr val="tx1"/>
                </a:solidFill>
              </a:rPr>
              <a:t>Visuals (Planned):</a:t>
            </a:r>
            <a:r>
              <a:rPr lang="en-US" sz="1400" dirty="0">
                <a:solidFill>
                  <a:schemeClr val="tx1"/>
                </a:solidFill>
              </a:rPr>
              <a:t> Heatmaps and skill-match indicators</a:t>
            </a:r>
          </a:p>
        </p:txBody>
      </p:sp>
      <p:pic>
        <p:nvPicPr>
          <p:cNvPr id="139" name="Google Shape;139;g3557b111a15_0_1241"/>
          <p:cNvPicPr preferRelativeResize="0"/>
          <p:nvPr/>
        </p:nvPicPr>
        <p:blipFill>
          <a:blip r:embed="rId3">
            <a:alphaModFix/>
          </a:blip>
          <a:stretch>
            <a:fillRect/>
          </a:stretch>
        </p:blipFill>
        <p:spPr>
          <a:xfrm>
            <a:off x="2385862" y="3498380"/>
            <a:ext cx="4371975" cy="182880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g3557b111a15_0_1248"/>
          <p:cNvSpPr txBox="1">
            <a:spLocks noGrp="1"/>
          </p:cNvSpPr>
          <p:nvPr>
            <p:ph type="title"/>
          </p:nvPr>
        </p:nvSpPr>
        <p:spPr>
          <a:xfrm>
            <a:off x="457200" y="274680"/>
            <a:ext cx="8229300" cy="1142700"/>
          </a:xfrm>
          <a:prstGeom prst="rect">
            <a:avLst/>
          </a:prstGeom>
        </p:spPr>
        <p:txBody>
          <a:bodyPr spcFirstLastPara="1" wrap="square" lIns="0" tIns="0" rIns="0" bIns="0" anchor="ctr" anchorCtr="0">
            <a:noAutofit/>
          </a:bodyPr>
          <a:lstStyle/>
          <a:p>
            <a:pPr marL="0" lvl="0" indent="0" algn="ctr" rtl="0">
              <a:spcBef>
                <a:spcPts val="0"/>
              </a:spcBef>
              <a:spcAft>
                <a:spcPts val="0"/>
              </a:spcAft>
              <a:buNone/>
            </a:pPr>
            <a:r>
              <a:rPr lang="en-US" b="1" dirty="0"/>
              <a:t>Limitations</a:t>
            </a:r>
            <a:endParaRPr b="1" dirty="0"/>
          </a:p>
        </p:txBody>
      </p:sp>
      <p:sp>
        <p:nvSpPr>
          <p:cNvPr id="145" name="Google Shape;145;g3557b111a15_0_1248"/>
          <p:cNvSpPr txBox="1">
            <a:spLocks noGrp="1"/>
          </p:cNvSpPr>
          <p:nvPr>
            <p:ph type="body" idx="1"/>
          </p:nvPr>
        </p:nvSpPr>
        <p:spPr>
          <a:xfrm>
            <a:off x="457200" y="1600200"/>
            <a:ext cx="8229300" cy="4525500"/>
          </a:xfrm>
          <a:prstGeom prst="rect">
            <a:avLst/>
          </a:prstGeom>
        </p:spPr>
        <p:txBody>
          <a:bodyPr spcFirstLastPara="1" wrap="square" lIns="0" tIns="0" rIns="0" bIns="0" anchor="t" anchorCtr="0">
            <a:normAutofit/>
          </a:bodyPr>
          <a:lstStyle/>
          <a:p>
            <a:pPr marL="457200" lvl="0" indent="-298450" algn="l" rtl="0">
              <a:spcBef>
                <a:spcPts val="1200"/>
              </a:spcBef>
              <a:spcAft>
                <a:spcPts val="0"/>
              </a:spcAft>
              <a:buClr>
                <a:schemeClr val="dk1"/>
              </a:buClr>
              <a:buSzPts val="1100"/>
              <a:buFont typeface="Arial"/>
              <a:buChar char="●"/>
            </a:pPr>
            <a:r>
              <a:rPr lang="en-US" dirty="0">
                <a:solidFill>
                  <a:schemeClr val="dk1"/>
                </a:solidFill>
              </a:rPr>
              <a:t>Resume input only supports plain text (no PDF parsing yet)</a:t>
            </a:r>
          </a:p>
          <a:p>
            <a:pPr marL="457200" lvl="0" indent="-298450" algn="l" rtl="0">
              <a:spcBef>
                <a:spcPts val="1200"/>
              </a:spcBef>
              <a:spcAft>
                <a:spcPts val="0"/>
              </a:spcAft>
              <a:buClr>
                <a:schemeClr val="dk1"/>
              </a:buClr>
              <a:buSzPts val="1100"/>
              <a:buFont typeface="Arial"/>
              <a:buChar char="●"/>
            </a:pPr>
            <a:r>
              <a:rPr lang="en-US" dirty="0">
                <a:solidFill>
                  <a:schemeClr val="dk1"/>
                </a:solidFill>
              </a:rPr>
              <a:t>Job postings are static CSV, not pulled live</a:t>
            </a:r>
          </a:p>
          <a:p>
            <a:pPr marL="457200" lvl="0" indent="-298450" algn="l" rtl="0">
              <a:spcBef>
                <a:spcPts val="1200"/>
              </a:spcBef>
              <a:spcAft>
                <a:spcPts val="0"/>
              </a:spcAft>
              <a:buClr>
                <a:schemeClr val="dk1"/>
              </a:buClr>
              <a:buSzPts val="1100"/>
              <a:buFont typeface="Arial"/>
              <a:buChar char="●"/>
            </a:pPr>
            <a:r>
              <a:rPr lang="en-US" dirty="0">
                <a:solidFill>
                  <a:schemeClr val="dk1"/>
                </a:solidFill>
              </a:rPr>
              <a:t>No filtering by location, salary, or seniority</a:t>
            </a:r>
          </a:p>
          <a:p>
            <a:pPr marL="457200" lvl="0" indent="-298450" algn="l" rtl="0">
              <a:spcBef>
                <a:spcPts val="1200"/>
              </a:spcBef>
              <a:spcAft>
                <a:spcPts val="0"/>
              </a:spcAft>
              <a:buClr>
                <a:schemeClr val="dk1"/>
              </a:buClr>
              <a:buSzPts val="1100"/>
              <a:buFont typeface="Arial"/>
              <a:buChar char="●"/>
            </a:pPr>
            <a:r>
              <a:rPr lang="en-US" dirty="0">
                <a:solidFill>
                  <a:schemeClr val="dk1"/>
                </a:solidFill>
              </a:rPr>
              <a:t>Embedding model is not yet domain-specific (general-purpose)</a:t>
            </a:r>
          </a:p>
          <a:p>
            <a:pPr marL="457200" lvl="0" indent="-298450" algn="l" rtl="0">
              <a:spcBef>
                <a:spcPts val="1200"/>
              </a:spcBef>
              <a:spcAft>
                <a:spcPts val="0"/>
              </a:spcAft>
              <a:buClr>
                <a:schemeClr val="dk1"/>
              </a:buClr>
              <a:buSzPts val="1100"/>
              <a:buFont typeface="Arial"/>
              <a:buChar char="●"/>
            </a:pPr>
            <a:r>
              <a:rPr lang="en-US" dirty="0">
                <a:solidFill>
                  <a:schemeClr val="dk1"/>
                </a:solidFill>
              </a:rPr>
              <a:t>Multilingual support not implemented</a:t>
            </a:r>
            <a:endParaRPr dirty="0">
              <a:solidFill>
                <a:schemeClr val="dk1"/>
              </a:solidFill>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49"/>
        <p:cNvGrpSpPr/>
        <p:nvPr/>
      </p:nvGrpSpPr>
      <p:grpSpPr>
        <a:xfrm>
          <a:off x="0" y="0"/>
          <a:ext cx="0" cy="0"/>
          <a:chOff x="0" y="0"/>
          <a:chExt cx="0" cy="0"/>
        </a:xfrm>
      </p:grpSpPr>
      <p:sp>
        <p:nvSpPr>
          <p:cNvPr id="150" name="Google Shape;150;g3557b111a15_0_1255"/>
          <p:cNvSpPr txBox="1">
            <a:spLocks noGrp="1"/>
          </p:cNvSpPr>
          <p:nvPr>
            <p:ph type="title"/>
          </p:nvPr>
        </p:nvSpPr>
        <p:spPr>
          <a:xfrm>
            <a:off x="457200" y="274680"/>
            <a:ext cx="8229300" cy="1142700"/>
          </a:xfrm>
          <a:prstGeom prst="rect">
            <a:avLst/>
          </a:prstGeom>
        </p:spPr>
        <p:txBody>
          <a:bodyPr spcFirstLastPara="1" wrap="square" lIns="0" tIns="0" rIns="0" bIns="0" anchor="ctr" anchorCtr="0">
            <a:noAutofit/>
          </a:bodyPr>
          <a:lstStyle/>
          <a:p>
            <a:pPr marL="0" lvl="0" indent="0" algn="ctr" rtl="0">
              <a:spcBef>
                <a:spcPts val="0"/>
              </a:spcBef>
              <a:spcAft>
                <a:spcPts val="0"/>
              </a:spcAft>
              <a:buNone/>
            </a:pPr>
            <a:r>
              <a:rPr lang="en-US" b="1" dirty="0"/>
              <a:t>Future Scope</a:t>
            </a:r>
            <a:endParaRPr b="1" dirty="0"/>
          </a:p>
        </p:txBody>
      </p:sp>
      <p:sp>
        <p:nvSpPr>
          <p:cNvPr id="151" name="Google Shape;151;g3557b111a15_0_1255"/>
          <p:cNvSpPr txBox="1">
            <a:spLocks noGrp="1"/>
          </p:cNvSpPr>
          <p:nvPr>
            <p:ph type="body" idx="1"/>
          </p:nvPr>
        </p:nvSpPr>
        <p:spPr>
          <a:xfrm>
            <a:off x="457200" y="1600200"/>
            <a:ext cx="8229300" cy="3022600"/>
          </a:xfrm>
          <a:prstGeom prst="rect">
            <a:avLst/>
          </a:prstGeom>
        </p:spPr>
        <p:txBody>
          <a:bodyPr spcFirstLastPara="1" wrap="square" lIns="0" tIns="0" rIns="0" bIns="0" anchor="t" anchorCtr="0">
            <a:normAutofit/>
          </a:bodyPr>
          <a:lstStyle/>
          <a:p>
            <a:pPr marL="57150" marR="0" indent="-285750">
              <a:lnSpc>
                <a:spcPct val="107000"/>
              </a:lnSpc>
              <a:spcAft>
                <a:spcPts val="800"/>
              </a:spcAft>
              <a:buFont typeface="Arial" panose="020B0604020202020204" pitchFamily="34" charset="0"/>
              <a:buChar char="•"/>
            </a:pPr>
            <a:r>
              <a:rPr lang="en-IN" sz="1800" b="1" dirty="0">
                <a:solidFill>
                  <a:srgbClr val="333333"/>
                </a:solidFill>
                <a:effectLst/>
                <a:latin typeface="Times New Roman" panose="02020603050405020304" pitchFamily="18" charset="0"/>
                <a:ea typeface="Calibri" panose="020F0502020204030204" pitchFamily="34" charset="0"/>
              </a:rPr>
              <a:t>File Upload Support:</a:t>
            </a:r>
            <a:r>
              <a:rPr lang="en-IN" sz="1800" b="0" dirty="0">
                <a:solidFill>
                  <a:srgbClr val="333333"/>
                </a:solidFill>
                <a:effectLst/>
                <a:latin typeface="Times New Roman" panose="02020603050405020304" pitchFamily="18" charset="0"/>
                <a:ea typeface="Calibri" panose="020F0502020204030204" pitchFamily="34" charset="0"/>
              </a:rPr>
              <a:t> Add ability to process PDF/DOCX resumes.</a:t>
            </a:r>
            <a:endParaRPr lang="en-IN" sz="1800" b="1" dirty="0">
              <a:solidFill>
                <a:srgbClr val="333333"/>
              </a:solidFill>
              <a:effectLst/>
              <a:latin typeface="Times New Roman" panose="02020603050405020304" pitchFamily="18" charset="0"/>
              <a:ea typeface="Calibri" panose="020F0502020204030204" pitchFamily="34" charset="0"/>
            </a:endParaRPr>
          </a:p>
          <a:p>
            <a:pPr marL="57150" marR="0" indent="-285750">
              <a:lnSpc>
                <a:spcPct val="107000"/>
              </a:lnSpc>
              <a:spcAft>
                <a:spcPts val="800"/>
              </a:spcAft>
              <a:buFont typeface="Arial" panose="020B0604020202020204" pitchFamily="34" charset="0"/>
              <a:buChar char="•"/>
            </a:pPr>
            <a:r>
              <a:rPr lang="en-IN" sz="1800" b="1" dirty="0">
                <a:solidFill>
                  <a:srgbClr val="333333"/>
                </a:solidFill>
                <a:effectLst/>
                <a:latin typeface="Times New Roman" panose="02020603050405020304" pitchFamily="18" charset="0"/>
                <a:ea typeface="Calibri" panose="020F0502020204030204" pitchFamily="34" charset="0"/>
              </a:rPr>
              <a:t>GPT Integration: </a:t>
            </a:r>
            <a:r>
              <a:rPr lang="en-IN" sz="1800" b="0" dirty="0">
                <a:solidFill>
                  <a:srgbClr val="333333"/>
                </a:solidFill>
                <a:effectLst/>
                <a:latin typeface="Times New Roman" panose="02020603050405020304" pitchFamily="18" charset="0"/>
                <a:ea typeface="Calibri" panose="020F0502020204030204" pitchFamily="34" charset="0"/>
              </a:rPr>
              <a:t>Enable AI-powered resume improvement and interview preparation.</a:t>
            </a:r>
            <a:endParaRPr lang="en-IN" sz="1800" b="1" dirty="0">
              <a:solidFill>
                <a:srgbClr val="333333"/>
              </a:solidFill>
              <a:effectLst/>
              <a:latin typeface="Times New Roman" panose="02020603050405020304" pitchFamily="18" charset="0"/>
              <a:ea typeface="Calibri" panose="020F0502020204030204" pitchFamily="34" charset="0"/>
            </a:endParaRPr>
          </a:p>
          <a:p>
            <a:pPr marL="57150" marR="0" indent="-285750">
              <a:lnSpc>
                <a:spcPct val="107000"/>
              </a:lnSpc>
              <a:spcAft>
                <a:spcPts val="800"/>
              </a:spcAft>
              <a:buFont typeface="Arial" panose="020B0604020202020204" pitchFamily="34" charset="0"/>
              <a:buChar char="•"/>
            </a:pPr>
            <a:r>
              <a:rPr lang="en-IN" sz="1800" b="1" dirty="0">
                <a:solidFill>
                  <a:srgbClr val="333333"/>
                </a:solidFill>
                <a:effectLst/>
                <a:latin typeface="Times New Roman" panose="02020603050405020304" pitchFamily="18" charset="0"/>
                <a:ea typeface="Calibri" panose="020F0502020204030204" pitchFamily="34" charset="0"/>
              </a:rPr>
              <a:t>Live Job Feeds: </a:t>
            </a:r>
            <a:r>
              <a:rPr lang="en-IN" sz="1800" b="0" dirty="0">
                <a:solidFill>
                  <a:srgbClr val="333333"/>
                </a:solidFill>
                <a:effectLst/>
                <a:latin typeface="Times New Roman" panose="02020603050405020304" pitchFamily="18" charset="0"/>
                <a:ea typeface="Calibri" panose="020F0502020204030204" pitchFamily="34" charset="0"/>
              </a:rPr>
              <a:t>Connect to real-time job listings from LinkedIn, Indeed via APIs.</a:t>
            </a:r>
            <a:endParaRPr lang="en-IN" sz="1800" b="1" dirty="0">
              <a:solidFill>
                <a:srgbClr val="333333"/>
              </a:solidFill>
              <a:effectLst/>
              <a:latin typeface="Times New Roman" panose="02020603050405020304" pitchFamily="18" charset="0"/>
              <a:ea typeface="Calibri" panose="020F0502020204030204" pitchFamily="34" charset="0"/>
            </a:endParaRPr>
          </a:p>
          <a:p>
            <a:pPr marL="57150" marR="0" indent="-285750">
              <a:lnSpc>
                <a:spcPct val="107000"/>
              </a:lnSpc>
              <a:spcAft>
                <a:spcPts val="800"/>
              </a:spcAft>
              <a:buFont typeface="Arial" panose="020B0604020202020204" pitchFamily="34" charset="0"/>
              <a:buChar char="•"/>
            </a:pPr>
            <a:r>
              <a:rPr lang="en-IN" sz="1800" b="1" dirty="0">
                <a:solidFill>
                  <a:srgbClr val="333333"/>
                </a:solidFill>
                <a:effectLst/>
                <a:latin typeface="Times New Roman" panose="02020603050405020304" pitchFamily="18" charset="0"/>
                <a:ea typeface="Calibri" panose="020F0502020204030204" pitchFamily="34" charset="0"/>
              </a:rPr>
              <a:t>Recruiter Dashboard: </a:t>
            </a:r>
            <a:r>
              <a:rPr lang="en-IN" sz="1800" b="0" dirty="0">
                <a:solidFill>
                  <a:srgbClr val="333333"/>
                </a:solidFill>
                <a:effectLst/>
                <a:latin typeface="Times New Roman" panose="02020603050405020304" pitchFamily="18" charset="0"/>
                <a:ea typeface="Calibri" panose="020F0502020204030204" pitchFamily="34" charset="0"/>
              </a:rPr>
              <a:t>Build admin interface to screen applicants efficiently.</a:t>
            </a:r>
            <a:endParaRPr lang="en-IN" sz="1800" b="1" dirty="0">
              <a:solidFill>
                <a:srgbClr val="333333"/>
              </a:solidFill>
              <a:effectLst/>
              <a:latin typeface="Times New Roman" panose="02020603050405020304" pitchFamily="18" charset="0"/>
              <a:ea typeface="Calibri" panose="020F0502020204030204" pitchFamily="34" charset="0"/>
            </a:endParaRPr>
          </a:p>
          <a:p>
            <a:pPr marL="57150" marR="0" indent="-285750">
              <a:lnSpc>
                <a:spcPct val="107000"/>
              </a:lnSpc>
              <a:spcAft>
                <a:spcPts val="800"/>
              </a:spcAft>
              <a:buFont typeface="Arial" panose="020B0604020202020204" pitchFamily="34" charset="0"/>
              <a:buChar char="•"/>
            </a:pPr>
            <a:r>
              <a:rPr lang="en-IN" sz="1800" b="1" dirty="0">
                <a:solidFill>
                  <a:srgbClr val="333333"/>
                </a:solidFill>
                <a:effectLst/>
                <a:latin typeface="Times New Roman" panose="02020603050405020304" pitchFamily="18" charset="0"/>
                <a:ea typeface="Calibri" panose="020F0502020204030204" pitchFamily="34" charset="0"/>
              </a:rPr>
              <a:t>Enhanced Filters: </a:t>
            </a:r>
            <a:r>
              <a:rPr lang="en-IN" sz="1800" b="0" dirty="0">
                <a:solidFill>
                  <a:srgbClr val="333333"/>
                </a:solidFill>
                <a:effectLst/>
                <a:latin typeface="Times New Roman" panose="02020603050405020304" pitchFamily="18" charset="0"/>
                <a:ea typeface="Calibri" panose="020F0502020204030204" pitchFamily="34" charset="0"/>
              </a:rPr>
              <a:t>Add support for location, experience level, salary expectations.</a:t>
            </a:r>
            <a:endParaRPr lang="en-IN" sz="1800" b="1" dirty="0">
              <a:solidFill>
                <a:srgbClr val="333333"/>
              </a:solidFill>
              <a:effectLst/>
              <a:latin typeface="Times New Roman" panose="02020603050405020304" pitchFamily="18" charset="0"/>
              <a:ea typeface="Calibri" panose="020F0502020204030204" pitchFamily="34" charset="0"/>
            </a:endParaRPr>
          </a:p>
          <a:p>
            <a:pPr marL="0" marR="0" indent="0">
              <a:lnSpc>
                <a:spcPct val="107000"/>
              </a:lnSpc>
              <a:spcAft>
                <a:spcPts val="800"/>
              </a:spcAft>
            </a:pPr>
            <a:endParaRPr lang="en-IN" sz="1800" b="1" dirty="0">
              <a:solidFill>
                <a:srgbClr val="333333"/>
              </a:solidFill>
              <a:effectLst/>
              <a:latin typeface="Times New Roman" panose="02020603050405020304" pitchFamily="18" charset="0"/>
              <a:ea typeface="Calibri" panose="020F0502020204030204" pitchFamily="34" charset="0"/>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61"/>
        <p:cNvGrpSpPr/>
        <p:nvPr/>
      </p:nvGrpSpPr>
      <p:grpSpPr>
        <a:xfrm>
          <a:off x="0" y="0"/>
          <a:ext cx="0" cy="0"/>
          <a:chOff x="0" y="0"/>
          <a:chExt cx="0" cy="0"/>
        </a:xfrm>
      </p:grpSpPr>
      <p:sp>
        <p:nvSpPr>
          <p:cNvPr id="162" name="Google Shape;162;p9"/>
          <p:cNvSpPr txBox="1">
            <a:spLocks noGrp="1"/>
          </p:cNvSpPr>
          <p:nvPr>
            <p:ph type="title"/>
          </p:nvPr>
        </p:nvSpPr>
        <p:spPr>
          <a:xfrm>
            <a:off x="457200" y="274680"/>
            <a:ext cx="8229240" cy="114264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1"/>
              </a:buClr>
              <a:buSzPts val="4400"/>
              <a:buFont typeface="Calibri"/>
              <a:buNone/>
            </a:pPr>
            <a:r>
              <a:rPr lang="en-US" sz="4400" b="1" strike="noStrike" dirty="0">
                <a:solidFill>
                  <a:schemeClr val="dk1"/>
                </a:solidFill>
              </a:rPr>
              <a:t>Future Work</a:t>
            </a:r>
            <a:endParaRPr sz="4400" b="1" strike="noStrike" dirty="0">
              <a:solidFill>
                <a:schemeClr val="dk1"/>
              </a:solidFill>
            </a:endParaRPr>
          </a:p>
        </p:txBody>
      </p:sp>
      <p:sp>
        <p:nvSpPr>
          <p:cNvPr id="163" name="Google Shape;163;p9"/>
          <p:cNvSpPr txBox="1">
            <a:spLocks noGrp="1"/>
          </p:cNvSpPr>
          <p:nvPr>
            <p:ph type="body" idx="1"/>
          </p:nvPr>
        </p:nvSpPr>
        <p:spPr>
          <a:xfrm>
            <a:off x="457200" y="1600200"/>
            <a:ext cx="8229240" cy="4525560"/>
          </a:xfrm>
          <a:prstGeom prst="rect">
            <a:avLst/>
          </a:prstGeom>
          <a:noFill/>
          <a:ln>
            <a:noFill/>
          </a:ln>
        </p:spPr>
        <p:txBody>
          <a:bodyPr spcFirstLastPara="1" wrap="square" lIns="91425" tIns="45700" rIns="91425" bIns="45700" anchor="t" anchorCtr="0">
            <a:noAutofit/>
          </a:bodyPr>
          <a:lstStyle/>
          <a:p>
            <a:pPr marL="343080" marR="0" lvl="0" indent="-266880" algn="l" rtl="0">
              <a:lnSpc>
                <a:spcPct val="100000"/>
              </a:lnSpc>
              <a:spcBef>
                <a:spcPts val="0"/>
              </a:spcBef>
              <a:spcAft>
                <a:spcPts val="0"/>
              </a:spcAft>
              <a:buClr>
                <a:srgbClr val="000000"/>
              </a:buClr>
              <a:buSzPts val="2000"/>
              <a:buChar char="•"/>
            </a:pPr>
            <a:r>
              <a:rPr lang="en-US" sz="2000" i="0" u="none" strike="noStrike" cap="none" dirty="0">
                <a:solidFill>
                  <a:schemeClr val="dk1"/>
                </a:solidFill>
              </a:rPr>
              <a:t>Real-time LinkedIn/Indeed API Integration</a:t>
            </a:r>
            <a:endParaRPr lang="en-IN" sz="2000" i="0" u="none" strike="noStrike" cap="none" dirty="0">
              <a:solidFill>
                <a:schemeClr val="dk1"/>
              </a:solidFill>
            </a:endParaRPr>
          </a:p>
          <a:p>
            <a:pPr marL="343080" marR="0" lvl="0" indent="-266880" algn="l" rtl="0">
              <a:lnSpc>
                <a:spcPct val="100000"/>
              </a:lnSpc>
              <a:spcBef>
                <a:spcPts val="641"/>
              </a:spcBef>
              <a:spcAft>
                <a:spcPts val="0"/>
              </a:spcAft>
              <a:buClr>
                <a:srgbClr val="000000"/>
              </a:buClr>
              <a:buSzPts val="2000"/>
              <a:buChar char="•"/>
            </a:pPr>
            <a:r>
              <a:rPr lang="en-IN" sz="2000" i="0" u="none" strike="noStrike" cap="none" dirty="0">
                <a:solidFill>
                  <a:schemeClr val="dk1"/>
                </a:solidFill>
              </a:rPr>
              <a:t>Skill Gap Analysis: Recommend upskilling paths</a:t>
            </a:r>
          </a:p>
          <a:p>
            <a:pPr marL="343080" marR="0" lvl="0" indent="-266880" algn="l" rtl="0">
              <a:lnSpc>
                <a:spcPct val="100000"/>
              </a:lnSpc>
              <a:spcBef>
                <a:spcPts val="641"/>
              </a:spcBef>
              <a:spcAft>
                <a:spcPts val="0"/>
              </a:spcAft>
              <a:buClr>
                <a:srgbClr val="000000"/>
              </a:buClr>
              <a:buSzPts val="2000"/>
              <a:buChar char="•"/>
            </a:pPr>
            <a:r>
              <a:rPr lang="en-IN" sz="2000" i="0" u="none" strike="noStrike" cap="none" dirty="0">
                <a:solidFill>
                  <a:schemeClr val="dk1"/>
                </a:solidFill>
              </a:rPr>
              <a:t>Clustering &amp; PCA: Visualize job-role similarity</a:t>
            </a:r>
          </a:p>
          <a:p>
            <a:pPr marL="343080" marR="0" lvl="0" indent="-266880" algn="l" rtl="0">
              <a:lnSpc>
                <a:spcPct val="100000"/>
              </a:lnSpc>
              <a:spcBef>
                <a:spcPts val="641"/>
              </a:spcBef>
              <a:spcAft>
                <a:spcPts val="0"/>
              </a:spcAft>
              <a:buClr>
                <a:srgbClr val="000000"/>
              </a:buClr>
              <a:buSzPts val="2000"/>
              <a:buChar char="•"/>
            </a:pPr>
            <a:r>
              <a:rPr lang="en-IN" sz="2000" i="0" u="none" strike="noStrike" cap="none" dirty="0">
                <a:solidFill>
                  <a:schemeClr val="dk1"/>
                </a:solidFill>
              </a:rPr>
              <a:t>Job-Level Ranking: Filter by experience or salary</a:t>
            </a:r>
          </a:p>
          <a:p>
            <a:pPr marL="343080" marR="0" lvl="0" indent="-266880" algn="l" rtl="0">
              <a:lnSpc>
                <a:spcPct val="100000"/>
              </a:lnSpc>
              <a:spcBef>
                <a:spcPts val="641"/>
              </a:spcBef>
              <a:spcAft>
                <a:spcPts val="0"/>
              </a:spcAft>
              <a:buClr>
                <a:srgbClr val="000000"/>
              </a:buClr>
              <a:buSzPts val="2000"/>
              <a:buChar char="•"/>
            </a:pPr>
            <a:r>
              <a:rPr lang="en-IN" sz="2000" i="0" u="none" strike="noStrike" cap="none" dirty="0">
                <a:solidFill>
                  <a:schemeClr val="dk1"/>
                </a:solidFill>
              </a:rPr>
              <a:t>Multilingual Support</a:t>
            </a:r>
            <a:endParaRPr sz="2000" i="0" u="none" strike="noStrike" cap="none" dirty="0">
              <a:solidFill>
                <a:schemeClr val="dk1"/>
              </a:solidFill>
            </a:endParaRPr>
          </a:p>
          <a:p>
            <a:pPr marL="343080" marR="0" lvl="0" indent="0" algn="l" rtl="0">
              <a:lnSpc>
                <a:spcPct val="100000"/>
              </a:lnSpc>
              <a:spcBef>
                <a:spcPts val="641"/>
              </a:spcBef>
              <a:spcAft>
                <a:spcPts val="1200"/>
              </a:spcAft>
              <a:buClr>
                <a:schemeClr val="dk1"/>
              </a:buClr>
              <a:buSzPts val="3200"/>
              <a:buFont typeface="Calibri"/>
              <a:buNone/>
            </a:pPr>
            <a:r>
              <a:rPr lang="en-US" sz="2000" i="0" u="none" strike="noStrike" cap="none" dirty="0">
                <a:solidFill>
                  <a:schemeClr val="dk1"/>
                </a:solidFill>
              </a:rPr>
              <a:t> </a:t>
            </a:r>
            <a:endParaRPr sz="2000" i="0" u="none" strike="noStrike" cap="none" dirty="0">
              <a:solidFill>
                <a:schemeClr val="dk1"/>
              </a:solidFill>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67"/>
        <p:cNvGrpSpPr/>
        <p:nvPr/>
      </p:nvGrpSpPr>
      <p:grpSpPr>
        <a:xfrm>
          <a:off x="0" y="0"/>
          <a:ext cx="0" cy="0"/>
          <a:chOff x="0" y="0"/>
          <a:chExt cx="0" cy="0"/>
        </a:xfrm>
      </p:grpSpPr>
      <p:sp>
        <p:nvSpPr>
          <p:cNvPr id="168" name="Google Shape;168;g3557b111a15_0_1278"/>
          <p:cNvSpPr txBox="1">
            <a:spLocks noGrp="1"/>
          </p:cNvSpPr>
          <p:nvPr>
            <p:ph type="title"/>
          </p:nvPr>
        </p:nvSpPr>
        <p:spPr>
          <a:xfrm>
            <a:off x="457200" y="274680"/>
            <a:ext cx="8229300" cy="1142700"/>
          </a:xfrm>
          <a:prstGeom prst="rect">
            <a:avLst/>
          </a:prstGeom>
        </p:spPr>
        <p:txBody>
          <a:bodyPr spcFirstLastPara="1" wrap="square" lIns="0" tIns="0" rIns="0" bIns="0" anchor="ctr" anchorCtr="0">
            <a:noAutofit/>
          </a:bodyPr>
          <a:lstStyle/>
          <a:p>
            <a:pPr marL="0" lvl="0" indent="0" algn="ctr" rtl="0">
              <a:spcBef>
                <a:spcPts val="0"/>
              </a:spcBef>
              <a:spcAft>
                <a:spcPts val="0"/>
              </a:spcAft>
              <a:buNone/>
            </a:pPr>
            <a:r>
              <a:rPr lang="en-US" b="1" dirty="0"/>
              <a:t>Conclusion</a:t>
            </a:r>
            <a:endParaRPr b="1" dirty="0"/>
          </a:p>
        </p:txBody>
      </p:sp>
      <p:sp>
        <p:nvSpPr>
          <p:cNvPr id="169" name="Google Shape;169;g3557b111a15_0_1278"/>
          <p:cNvSpPr txBox="1">
            <a:spLocks noGrp="1"/>
          </p:cNvSpPr>
          <p:nvPr>
            <p:ph type="body" idx="1"/>
          </p:nvPr>
        </p:nvSpPr>
        <p:spPr>
          <a:xfrm>
            <a:off x="457200" y="1600200"/>
            <a:ext cx="8229300" cy="4525500"/>
          </a:xfrm>
          <a:prstGeom prst="rect">
            <a:avLst/>
          </a:prstGeom>
        </p:spPr>
        <p:txBody>
          <a:bodyPr spcFirstLastPara="1" wrap="square" lIns="0" tIns="0" rIns="0" bIns="0" anchor="t" anchorCtr="0">
            <a:normAutofit/>
          </a:bodyPr>
          <a:lstStyle/>
          <a:p>
            <a:pPr marL="457200" lvl="0" indent="-342900" algn="l" rtl="0">
              <a:spcBef>
                <a:spcPts val="0"/>
              </a:spcBef>
              <a:spcAft>
                <a:spcPts val="0"/>
              </a:spcAft>
              <a:buClr>
                <a:schemeClr val="dk1"/>
              </a:buClr>
              <a:buSzPts val="1800"/>
              <a:buChar char="●"/>
            </a:pPr>
            <a:r>
              <a:rPr lang="en-US" dirty="0">
                <a:solidFill>
                  <a:schemeClr val="dk1"/>
                </a:solidFill>
              </a:rPr>
              <a:t>Delivered a functional AI-powered assistant for smarter job matching</a:t>
            </a:r>
          </a:p>
          <a:p>
            <a:pPr marL="457200" lvl="0" indent="-342900" algn="l" rtl="0">
              <a:spcBef>
                <a:spcPts val="0"/>
              </a:spcBef>
              <a:spcAft>
                <a:spcPts val="0"/>
              </a:spcAft>
              <a:buClr>
                <a:schemeClr val="dk1"/>
              </a:buClr>
              <a:buSzPts val="1800"/>
              <a:buChar char="●"/>
            </a:pPr>
            <a:endParaRPr lang="en-US" dirty="0">
              <a:solidFill>
                <a:schemeClr val="dk1"/>
              </a:solidFill>
            </a:endParaRPr>
          </a:p>
          <a:p>
            <a:pPr marL="457200" lvl="0" indent="-342900" algn="l" rtl="0">
              <a:spcBef>
                <a:spcPts val="0"/>
              </a:spcBef>
              <a:spcAft>
                <a:spcPts val="0"/>
              </a:spcAft>
              <a:buClr>
                <a:schemeClr val="dk1"/>
              </a:buClr>
              <a:buSzPts val="1800"/>
              <a:buChar char="●"/>
            </a:pPr>
            <a:r>
              <a:rPr lang="en-US" dirty="0">
                <a:solidFill>
                  <a:schemeClr val="dk1"/>
                </a:solidFill>
              </a:rPr>
              <a:t>Went beyond keywords to understand semantic fit</a:t>
            </a:r>
          </a:p>
          <a:p>
            <a:pPr marL="457200" lvl="0" indent="-342900" algn="l" rtl="0">
              <a:spcBef>
                <a:spcPts val="0"/>
              </a:spcBef>
              <a:spcAft>
                <a:spcPts val="0"/>
              </a:spcAft>
              <a:buClr>
                <a:schemeClr val="dk1"/>
              </a:buClr>
              <a:buSzPts val="1800"/>
              <a:buChar char="●"/>
            </a:pPr>
            <a:endParaRPr lang="en-US" dirty="0">
              <a:solidFill>
                <a:schemeClr val="dk1"/>
              </a:solidFill>
            </a:endParaRPr>
          </a:p>
          <a:p>
            <a:pPr marL="457200" lvl="0" indent="-342900" algn="l" rtl="0">
              <a:spcBef>
                <a:spcPts val="0"/>
              </a:spcBef>
              <a:spcAft>
                <a:spcPts val="0"/>
              </a:spcAft>
              <a:buClr>
                <a:schemeClr val="dk1"/>
              </a:buClr>
              <a:buSzPts val="1800"/>
              <a:buChar char="●"/>
            </a:pPr>
            <a:r>
              <a:rPr lang="en-US" dirty="0">
                <a:solidFill>
                  <a:schemeClr val="dk1"/>
                </a:solidFill>
              </a:rPr>
              <a:t>Built using NLP, vector search, and full-stack tools (Flask + React)</a:t>
            </a:r>
          </a:p>
          <a:p>
            <a:pPr marL="457200" lvl="0" indent="-342900" algn="l" rtl="0">
              <a:spcBef>
                <a:spcPts val="0"/>
              </a:spcBef>
              <a:spcAft>
                <a:spcPts val="0"/>
              </a:spcAft>
              <a:buClr>
                <a:schemeClr val="dk1"/>
              </a:buClr>
              <a:buSzPts val="1800"/>
              <a:buChar char="●"/>
            </a:pPr>
            <a:endParaRPr lang="en-US" dirty="0">
              <a:solidFill>
                <a:schemeClr val="dk1"/>
              </a:solidFill>
            </a:endParaRPr>
          </a:p>
          <a:p>
            <a:pPr marL="457200" lvl="0" indent="-342900" algn="l" rtl="0">
              <a:spcBef>
                <a:spcPts val="0"/>
              </a:spcBef>
              <a:spcAft>
                <a:spcPts val="0"/>
              </a:spcAft>
              <a:buClr>
                <a:schemeClr val="dk1"/>
              </a:buClr>
              <a:buSzPts val="1800"/>
              <a:buChar char="●"/>
            </a:pPr>
            <a:r>
              <a:rPr lang="en-US" dirty="0">
                <a:solidFill>
                  <a:schemeClr val="dk1"/>
                </a:solidFill>
              </a:rPr>
              <a:t>Achieved high accuracy and fast performance</a:t>
            </a:r>
          </a:p>
          <a:p>
            <a:pPr marL="457200" lvl="0" indent="-342900" algn="l" rtl="0">
              <a:spcBef>
                <a:spcPts val="0"/>
              </a:spcBef>
              <a:spcAft>
                <a:spcPts val="0"/>
              </a:spcAft>
              <a:buClr>
                <a:schemeClr val="dk1"/>
              </a:buClr>
              <a:buSzPts val="1800"/>
              <a:buChar char="●"/>
            </a:pPr>
            <a:endParaRPr lang="en-US" dirty="0">
              <a:solidFill>
                <a:schemeClr val="dk1"/>
              </a:solidFill>
            </a:endParaRPr>
          </a:p>
          <a:p>
            <a:pPr marL="457200" lvl="0" indent="-342900" algn="l" rtl="0">
              <a:spcBef>
                <a:spcPts val="0"/>
              </a:spcBef>
              <a:spcAft>
                <a:spcPts val="0"/>
              </a:spcAft>
              <a:buClr>
                <a:schemeClr val="dk1"/>
              </a:buClr>
              <a:buSzPts val="1800"/>
              <a:buChar char="●"/>
            </a:pPr>
            <a:r>
              <a:rPr lang="en-US" dirty="0">
                <a:solidFill>
                  <a:schemeClr val="dk1"/>
                </a:solidFill>
              </a:rPr>
              <a:t>Demonstrated the impact of AI on real-world job search processes</a:t>
            </a:r>
          </a:p>
          <a:p>
            <a:pPr marL="457200" lvl="0" indent="-342900" algn="l" rtl="0">
              <a:spcBef>
                <a:spcPts val="0"/>
              </a:spcBef>
              <a:spcAft>
                <a:spcPts val="0"/>
              </a:spcAft>
              <a:buClr>
                <a:schemeClr val="dk1"/>
              </a:buClr>
              <a:buSzPts val="1800"/>
              <a:buChar char="●"/>
            </a:pPr>
            <a:endParaRPr lang="en-US" dirty="0">
              <a:solidFill>
                <a:schemeClr val="dk1"/>
              </a:solidFill>
            </a:endParaRPr>
          </a:p>
          <a:p>
            <a:pPr marL="457200" lvl="0" indent="-342900" algn="l" rtl="0">
              <a:spcBef>
                <a:spcPts val="0"/>
              </a:spcBef>
              <a:spcAft>
                <a:spcPts val="0"/>
              </a:spcAft>
              <a:buClr>
                <a:schemeClr val="dk1"/>
              </a:buClr>
              <a:buSzPts val="1800"/>
              <a:buChar char="●"/>
            </a:pPr>
            <a:r>
              <a:rPr lang="en-US" dirty="0">
                <a:solidFill>
                  <a:schemeClr val="dk1"/>
                </a:solidFill>
              </a:rPr>
              <a:t>Ready for future extensions: real-time jobs, GPT-driven coaching, scalable deployment.</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79"/>
        <p:cNvGrpSpPr/>
        <p:nvPr/>
      </p:nvGrpSpPr>
      <p:grpSpPr>
        <a:xfrm>
          <a:off x="0" y="0"/>
          <a:ext cx="0" cy="0"/>
          <a:chOff x="0" y="0"/>
          <a:chExt cx="0" cy="0"/>
        </a:xfrm>
      </p:grpSpPr>
      <p:sp>
        <p:nvSpPr>
          <p:cNvPr id="180" name="Google Shape;180;p14"/>
          <p:cNvSpPr txBox="1">
            <a:spLocks noGrp="1"/>
          </p:cNvSpPr>
          <p:nvPr>
            <p:ph type="body" idx="1"/>
          </p:nvPr>
        </p:nvSpPr>
        <p:spPr>
          <a:xfrm>
            <a:off x="1491094" y="2637704"/>
            <a:ext cx="5998800" cy="806700"/>
          </a:xfrm>
          <a:prstGeom prst="rect">
            <a:avLst/>
          </a:prstGeom>
          <a:noFill/>
          <a:ln>
            <a:noFill/>
          </a:ln>
        </p:spPr>
        <p:txBody>
          <a:bodyPr spcFirstLastPara="1" wrap="square" lIns="91425" tIns="45700" rIns="91425" bIns="45700" anchor="t" anchorCtr="0">
            <a:noAutofit/>
          </a:bodyPr>
          <a:lstStyle/>
          <a:p>
            <a:pPr marL="0" lvl="0" indent="0" algn="ctr" rtl="0">
              <a:spcBef>
                <a:spcPts val="0"/>
              </a:spcBef>
              <a:spcAft>
                <a:spcPts val="0"/>
              </a:spcAft>
              <a:buClr>
                <a:schemeClr val="dk1"/>
              </a:buClr>
              <a:buSzPts val="4400"/>
              <a:buFont typeface="Calibri"/>
              <a:buNone/>
            </a:pPr>
            <a:r>
              <a:rPr lang="en-US" sz="7200" i="0" u="none" strike="noStrike" cap="none" dirty="0">
                <a:solidFill>
                  <a:schemeClr val="dk1"/>
                </a:solidFill>
              </a:rPr>
              <a:t>Thank You</a:t>
            </a:r>
            <a:endParaRPr sz="7200" i="0" u="none" strike="noStrike" cap="none" dirty="0">
              <a:solidFill>
                <a:schemeClr val="dk1"/>
              </a:solidFill>
            </a:endParaRPr>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649</TotalTime>
  <Words>1295</Words>
  <Application>Microsoft Office PowerPoint</Application>
  <PresentationFormat>On-screen Show (4:3)</PresentationFormat>
  <Paragraphs>161</Paragraphs>
  <Slides>20</Slides>
  <Notes>18</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20</vt:i4>
      </vt:variant>
    </vt:vector>
  </HeadingPairs>
  <TitlesOfParts>
    <vt:vector size="25" baseType="lpstr">
      <vt:lpstr>Arial</vt:lpstr>
      <vt:lpstr>Calibri</vt:lpstr>
      <vt:lpstr>Symbol</vt:lpstr>
      <vt:lpstr>Times New Roman</vt:lpstr>
      <vt:lpstr>Simple Light</vt:lpstr>
      <vt:lpstr>AI-Powered Job Search Assistant</vt:lpstr>
      <vt:lpstr>Introduction</vt:lpstr>
      <vt:lpstr>Problem Statement</vt:lpstr>
      <vt:lpstr>Our Solutions</vt:lpstr>
      <vt:lpstr>Objectives</vt:lpstr>
      <vt:lpstr>Architecture</vt:lpstr>
      <vt:lpstr>Datasets Used</vt:lpstr>
      <vt:lpstr>NLP Preprocessing</vt:lpstr>
      <vt:lpstr> Semantic Embedding with Sentence Transformer </vt:lpstr>
      <vt:lpstr>Fast Matching with FAISS </vt:lpstr>
      <vt:lpstr>Technologies Used</vt:lpstr>
      <vt:lpstr>Backend &amp; API</vt:lpstr>
      <vt:lpstr>React Frontend Flow</vt:lpstr>
      <vt:lpstr>Methodology</vt:lpstr>
      <vt:lpstr>Results</vt:lpstr>
      <vt:lpstr>Limitations</vt:lpstr>
      <vt:lpstr>Future Scope</vt:lpstr>
      <vt:lpstr>Future Work</vt:lpstr>
      <vt:lpstr>Conclusion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Amrutha Perumalla</cp:lastModifiedBy>
  <cp:revision>11</cp:revision>
  <dcterms:created xsi:type="dcterms:W3CDTF">2013-01-27T09:14:16Z</dcterms:created>
  <dcterms:modified xsi:type="dcterms:W3CDTF">2025-05-08T17:52:46Z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PresentationFormat">
    <vt:lpwstr>On-screen Show (4:3)</vt:lpwstr>
  </property>
</Properties>
</file>